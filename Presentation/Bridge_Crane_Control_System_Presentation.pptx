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68" r:id="rId5"/>
    <p:sldId id="259" r:id="rId6"/>
    <p:sldId id="260" r:id="rId7"/>
    <p:sldId id="261" r:id="rId8"/>
    <p:sldId id="269" r:id="rId9"/>
    <p:sldId id="270" r:id="rId10"/>
    <p:sldId id="271" r:id="rId11"/>
    <p:sldId id="272" r:id="rId12"/>
    <p:sldId id="273" r:id="rId13"/>
    <p:sldId id="274" r:id="rId14"/>
    <p:sldId id="275" r:id="rId15"/>
    <p:sldId id="276" r:id="rId16"/>
    <p:sldId id="277" r:id="rId17"/>
    <p:sldId id="262"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63" r:id="rId33"/>
    <p:sldId id="292" r:id="rId34"/>
    <p:sldId id="295" r:id="rId35"/>
    <p:sldId id="296" r:id="rId36"/>
    <p:sldId id="293" r:id="rId37"/>
    <p:sldId id="294" r:id="rId38"/>
    <p:sldId id="297" r:id="rId39"/>
    <p:sldId id="298" r:id="rId40"/>
    <p:sldId id="299" r:id="rId41"/>
    <p:sldId id="265" r:id="rId42"/>
    <p:sldId id="300" r:id="rId43"/>
    <p:sldId id="266" r:id="rId44"/>
    <p:sldId id="267" r:id="rId45"/>
    <p:sldId id="301" r:id="rId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12/5/2024</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C1FF6DA9-008F-8B48-92A6-B652298478BF}" type="slidenum">
              <a:rPr lang="en-US" smtClean="0"/>
              <a:t>‹#›</a:t>
            </a:fld>
            <a:endParaRPr lang="en-US"/>
          </a:p>
        </p:txBody>
      </p:sp>
    </p:spTree>
    <p:extLst>
      <p:ext uri="{BB962C8B-B14F-4D97-AF65-F5344CB8AC3E}">
        <p14:creationId xmlns:p14="http://schemas.microsoft.com/office/powerpoint/2010/main" val="1929194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4872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5BCAD085-E8A6-8845-BD4E-CB4CCA059FC4}" type="datetimeFigureOut">
              <a:rPr lang="en-US" smtClean="0"/>
              <a:t>12/5/2024</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1526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3343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8002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BCAD085-E8A6-8845-BD4E-CB4CCA059FC4}" type="datetimeFigureOut">
              <a:rPr lang="en-US" smtClean="0"/>
              <a:t>12/5/2024</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4816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05902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5BCAD085-E8A6-8845-BD4E-CB4CCA059FC4}" type="datetimeFigureOut">
              <a:rPr lang="en-US" smtClean="0"/>
              <a:t>12/5/2024</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57339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5BCAD085-E8A6-8845-BD4E-CB4CCA059FC4}" type="datetimeFigureOut">
              <a:rPr lang="en-US" smtClean="0"/>
              <a:t>12/5/2024</a:t>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7092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24573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65268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5BCAD085-E8A6-8845-BD4E-CB4CCA059FC4}" type="datetimeFigureOut">
              <a:rPr lang="en-US" smtClean="0"/>
              <a:t>12/5/2024</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4574989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2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image" Target="../media/image59.png"/><Relationship Id="rId1" Type="http://schemas.openxmlformats.org/officeDocument/2006/relationships/slideLayout" Target="../slideLayouts/slideLayout7.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9" Type="http://schemas.openxmlformats.org/officeDocument/2006/relationships/image" Target="../media/image66.png"/></Relationships>
</file>

<file path=ppt/slides/_rels/slide31.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 Id="rId9" Type="http://schemas.openxmlformats.org/officeDocument/2006/relationships/image" Target="../media/image7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6.png"/><Relationship Id="rId7" Type="http://schemas.openxmlformats.org/officeDocument/2006/relationships/image" Target="../media/image80.png"/><Relationship Id="rId2" Type="http://schemas.openxmlformats.org/officeDocument/2006/relationships/image" Target="../media/image75.pn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3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6DBFAD4-B5FC-442B-A283-381B01B195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7" name="Oval 16">
              <a:extLst>
                <a:ext uri="{FF2B5EF4-FFF2-40B4-BE49-F238E27FC236}">
                  <a16:creationId xmlns:a16="http://schemas.microsoft.com/office/drawing/2014/main" id="{9B649DC7-8769-4383-A6F2-8F366BA7A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8" name="Oval 17">
              <a:extLst>
                <a:ext uri="{FF2B5EF4-FFF2-40B4-BE49-F238E27FC236}">
                  <a16:creationId xmlns:a16="http://schemas.microsoft.com/office/drawing/2014/main" id="{0C67FD53-2686-4E0E-BA49-976F78F9A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useBgFill="1">
        <p:nvSpPr>
          <p:cNvPr id="20" name="Rectangle 19">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ifting crane">
            <a:extLst>
              <a:ext uri="{FF2B5EF4-FFF2-40B4-BE49-F238E27FC236}">
                <a16:creationId xmlns:a16="http://schemas.microsoft.com/office/drawing/2014/main" id="{ECB34516-0592-02AC-31EA-02BCE9049377}"/>
              </a:ext>
            </a:extLst>
          </p:cNvPr>
          <p:cNvPicPr>
            <a:picLocks noChangeAspect="1"/>
          </p:cNvPicPr>
          <p:nvPr/>
        </p:nvPicPr>
        <p:blipFill>
          <a:blip r:embed="rId4"/>
          <a:srcRect l="5500" r="5499" b="-1"/>
          <a:stretch/>
        </p:blipFill>
        <p:spPr>
          <a:xfrm>
            <a:off x="20" y="10"/>
            <a:ext cx="9143978" cy="6857990"/>
          </a:xfrm>
          <a:prstGeom prst="rect">
            <a:avLst/>
          </a:prstGeom>
        </p:spPr>
      </p:pic>
      <p:sp>
        <p:nvSpPr>
          <p:cNvPr id="22" name="Rectangle 21">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3837459"/>
            <a:ext cx="7667244"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4" name="Rectangle 23">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3981573"/>
            <a:ext cx="7667244" cy="2078335"/>
          </a:xfrm>
          <a:prstGeom prst="rect">
            <a:avLst/>
          </a:prstGeom>
          <a:blipFill dpi="0" rotWithShape="1">
            <a:blip r:embed="rId5">
              <a:alphaModFix amt="9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964092" y="4162031"/>
            <a:ext cx="3407762" cy="1767141"/>
          </a:xfrm>
        </p:spPr>
        <p:txBody>
          <a:bodyPr vert="horz" lIns="91440" tIns="45720" rIns="91440" bIns="45720" rtlCol="0" anchor="ctr">
            <a:normAutofit/>
          </a:bodyPr>
          <a:lstStyle/>
          <a:p>
            <a:pPr algn="r">
              <a:lnSpc>
                <a:spcPct val="90000"/>
              </a:lnSpc>
            </a:pPr>
            <a:r>
              <a:rPr lang="en-US" sz="3000">
                <a:blipFill>
                  <a:blip r:embed="rId7">
                    <a:extLst>
                      <a:ext uri="{28A0092B-C50C-407E-A947-70E740481C1C}">
                        <a14:useLocalDpi xmlns:a14="http://schemas.microsoft.com/office/drawing/2010/main" val="0"/>
                      </a:ext>
                    </a:extLst>
                  </a:blip>
                  <a:tile tx="6350" ty="-127000" sx="65000" sy="64000" flip="none" algn="tl"/>
                </a:blipFill>
              </a:rPr>
              <a:t>Modeling and Control of a Bridge Crane System</a:t>
            </a:r>
          </a:p>
        </p:txBody>
      </p:sp>
      <p:sp>
        <p:nvSpPr>
          <p:cNvPr id="3" name="Subtitle 2"/>
          <p:cNvSpPr>
            <a:spLocks noGrp="1"/>
          </p:cNvSpPr>
          <p:nvPr>
            <p:ph type="subTitle" idx="1"/>
          </p:nvPr>
        </p:nvSpPr>
        <p:spPr>
          <a:xfrm>
            <a:off x="4663440" y="4170410"/>
            <a:ext cx="3524415" cy="1767141"/>
          </a:xfrm>
        </p:spPr>
        <p:txBody>
          <a:bodyPr vert="horz" lIns="91440" tIns="45720" rIns="91440" bIns="45720" rtlCol="0" anchor="ctr">
            <a:normAutofit/>
          </a:bodyPr>
          <a:lstStyle/>
          <a:p>
            <a:pPr indent="-182880">
              <a:buFont typeface="Wingdings" pitchFamily="2" charset="2"/>
              <a:buChar char="§"/>
            </a:pPr>
            <a:r>
              <a:rPr lang="en-US" sz="1200"/>
              <a:t>Charith Sai Sathvik Ale</a:t>
            </a:r>
          </a:p>
          <a:p>
            <a:pPr indent="-182880">
              <a:buFont typeface="Wingdings" pitchFamily="2" charset="2"/>
              <a:buChar char="§"/>
            </a:pPr>
            <a:r>
              <a:rPr lang="en-US" sz="1200"/>
              <a:t>12/03/24</a:t>
            </a:r>
          </a:p>
          <a:p>
            <a:pPr indent="-182880">
              <a:buFont typeface="Wingdings" pitchFamily="2" charset="2"/>
              <a:buChar char="§"/>
            </a:pPr>
            <a:r>
              <a:rPr lang="en-US" sz="1200"/>
              <a:t>University Of Alabama at Birmingham</a:t>
            </a:r>
          </a:p>
          <a:p>
            <a:pPr indent="-182880">
              <a:buFont typeface="Wingdings" pitchFamily="2" charset="2"/>
              <a:buChar char="§"/>
            </a:pPr>
            <a:r>
              <a:rPr lang="en-US" sz="1200"/>
              <a:t>Dept of Electrical and Computer Engineering</a:t>
            </a:r>
          </a:p>
          <a:p>
            <a:pPr indent="-182880">
              <a:buFont typeface="Wingdings" pitchFamily="2" charset="2"/>
              <a:buChar char="§"/>
            </a:pPr>
            <a:r>
              <a:rPr lang="en-US" sz="1200"/>
              <a:t>EE 641 Modern Control Theory</a:t>
            </a:r>
          </a:p>
        </p:txBody>
      </p:sp>
      <p:sp>
        <p:nvSpPr>
          <p:cNvPr id="26" name="Rectangle 25">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128670"/>
            <a:ext cx="7667244" cy="80683"/>
          </a:xfrm>
          <a:prstGeom prst="rect">
            <a:avLst/>
          </a:prstGeom>
          <a:blipFill dpi="0" rotWithShape="1">
            <a:blip r:embed="rId5">
              <a:alphaModFix amt="85000"/>
              <a:lum bright="70000" contrast="-70000"/>
              <a:extLst>
                <a:ext uri="{BEBA8EAE-BF5A-486C-A8C5-ECC9F3942E4B}">
                  <a14:imgProps xmlns:a14="http://schemas.microsoft.com/office/drawing/2010/main">
                    <a14:imgLayer r:embed="rId6">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8" name="Oval 27">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2">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30" name="Oval 29">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67"/>
            <a:ext cx="8229600" cy="747917"/>
          </a:xfrm>
        </p:spPr>
        <p:txBody>
          <a:bodyPr>
            <a:normAutofit/>
          </a:bodyPr>
          <a:lstStyle/>
          <a:p>
            <a:r>
              <a:rPr lang="en-IN" dirty="0"/>
              <a:t>Introduction</a:t>
            </a:r>
            <a:endParaRPr dirty="0"/>
          </a:p>
        </p:txBody>
      </p:sp>
      <p:sp>
        <p:nvSpPr>
          <p:cNvPr id="14" name="Rectangle 11">
            <a:extLst>
              <a:ext uri="{FF2B5EF4-FFF2-40B4-BE49-F238E27FC236}">
                <a16:creationId xmlns:a16="http://schemas.microsoft.com/office/drawing/2014/main" id="{2B7EC91B-F1CD-E081-C035-CFBAD7490F23}"/>
              </a:ext>
            </a:extLst>
          </p:cNvPr>
          <p:cNvSpPr>
            <a:spLocks noGrp="1" noChangeArrowheads="1"/>
          </p:cNvSpPr>
          <p:nvPr>
            <p:ph idx="1"/>
          </p:nvPr>
        </p:nvSpPr>
        <p:spPr bwMode="auto">
          <a:xfrm>
            <a:off x="188406" y="1426341"/>
            <a:ext cx="8767187"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Objective:</a:t>
            </a:r>
            <a:r>
              <a:rPr kumimoji="0" lang="en-US" altLang="en-US" sz="1800" b="0" i="0" u="none" strike="noStrike" cap="none" normalizeH="0" baseline="0" dirty="0">
                <a:ln>
                  <a:noFill/>
                </a:ln>
                <a:solidFill>
                  <a:schemeClr val="tx1"/>
                </a:solidFill>
                <a:effectLst/>
                <a:latin typeface="Arial" panose="020B0604020202020204" pitchFamily="34" charset="0"/>
              </a:rPr>
              <a:t> Develop a control system for a bridge crane used primarily in seaport operations for loading containers onto ships. The control system aims to stabilize the crane's operations and improve efficiency and safety during the loading process.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Dynamic Modeling:</a:t>
            </a:r>
            <a:r>
              <a:rPr kumimoji="0" lang="en-US" altLang="en-US" sz="1800" b="0" i="0" u="none" strike="noStrike" cap="none" normalizeH="0" baseline="0" dirty="0">
                <a:ln>
                  <a:noFill/>
                </a:ln>
                <a:solidFill>
                  <a:schemeClr val="tx1"/>
                </a:solidFill>
                <a:effectLst/>
                <a:latin typeface="Arial" panose="020B0604020202020204" pitchFamily="34" charset="0"/>
              </a:rPr>
              <a:t> The project models the bridge crane system dynamically, focusing on variations in load mass from the minimal hook weight to the maximum capacity of the crane. This approach helps tailor control strategies to varying operational demands.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964958D-AF5D-4863-B5FB-83F6B8CB1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08" y="0"/>
            <a:ext cx="9141492"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ud shaped hard drive with cables">
            <a:extLst>
              <a:ext uri="{FF2B5EF4-FFF2-40B4-BE49-F238E27FC236}">
                <a16:creationId xmlns:a16="http://schemas.microsoft.com/office/drawing/2014/main" id="{1A76E8E8-03FA-5268-9E0C-ADFCD531EF47}"/>
              </a:ext>
            </a:extLst>
          </p:cNvPr>
          <p:cNvPicPr>
            <a:picLocks noChangeAspect="1"/>
          </p:cNvPicPr>
          <p:nvPr/>
        </p:nvPicPr>
        <p:blipFill>
          <a:blip r:embed="rId4"/>
          <a:srcRect l="29178" r="41730" b="1"/>
          <a:stretch/>
        </p:blipFill>
        <p:spPr>
          <a:xfrm>
            <a:off x="2508" y="10"/>
            <a:ext cx="3485044" cy="6857990"/>
          </a:xfrm>
          <a:prstGeom prst="rect">
            <a:avLst/>
          </a:prstGeom>
        </p:spPr>
      </p:pic>
      <p:sp>
        <p:nvSpPr>
          <p:cNvPr id="3" name="Content Placeholder 2"/>
          <p:cNvSpPr>
            <a:spLocks noGrp="1"/>
          </p:cNvSpPr>
          <p:nvPr>
            <p:ph idx="1"/>
          </p:nvPr>
        </p:nvSpPr>
        <p:spPr>
          <a:xfrm>
            <a:off x="3727581" y="2121408"/>
            <a:ext cx="5047707" cy="4050792"/>
          </a:xfrm>
        </p:spPr>
        <p:txBody>
          <a:bodyPr>
            <a:normAutofit/>
          </a:bodyPr>
          <a:lstStyle/>
          <a:p>
            <a:pPr marL="0" marR="0" lvl="0" indent="0" defTabSz="914400" rtl="0" eaLnBrk="0" fontAlgn="base" latinLnBrk="0" hangingPunct="0">
              <a:spcBef>
                <a:spcPct val="0"/>
              </a:spcBef>
              <a:spcAft>
                <a:spcPct val="0"/>
              </a:spcAft>
              <a:buClrTx/>
              <a:buSzTx/>
              <a:buNone/>
              <a:tabLst/>
            </a:pPr>
            <a:r>
              <a:rPr kumimoji="0" lang="en-US" altLang="en-US" sz="1600" b="1" i="0" u="none" strike="noStrike" cap="none" normalizeH="0" baseline="0">
                <a:ln>
                  <a:noFill/>
                </a:ln>
                <a:effectLst/>
                <a:latin typeface="Arial" panose="020B0604020202020204" pitchFamily="34" charset="0"/>
              </a:rPr>
              <a:t>Simplifications for Feasibility:</a:t>
            </a:r>
            <a:endParaRPr kumimoji="0" lang="en-US" altLang="en-US" sz="16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FontTx/>
              <a:buChar char="•"/>
              <a:tabLst/>
            </a:pPr>
            <a:r>
              <a:rPr kumimoji="0" lang="en-US" altLang="en-US" sz="1600" b="0" i="0" u="none" strike="noStrike" cap="none" normalizeH="0" baseline="0">
                <a:ln>
                  <a:noFill/>
                </a:ln>
                <a:effectLst/>
                <a:latin typeface="Arial" panose="020B0604020202020204" pitchFamily="34" charset="0"/>
              </a:rPr>
              <a:t>Assumes a massless, inextensible cable, eliminating the complexities of cable dynamics from the model.</a:t>
            </a:r>
          </a:p>
          <a:p>
            <a:pPr marL="0" marR="0" lvl="0" indent="0" defTabSz="914400" rtl="0" eaLnBrk="0" fontAlgn="base" latinLnBrk="0" hangingPunct="0">
              <a:spcBef>
                <a:spcPct val="0"/>
              </a:spcBef>
              <a:spcAft>
                <a:spcPct val="0"/>
              </a:spcAft>
              <a:buClrTx/>
              <a:buSzTx/>
              <a:buFontTx/>
              <a:buChar char="•"/>
              <a:tabLst/>
            </a:pPr>
            <a:r>
              <a:rPr kumimoji="0" lang="en-US" altLang="en-US" sz="1600" b="0" i="0" u="none" strike="noStrike" cap="none" normalizeH="0" baseline="0">
                <a:ln>
                  <a:noFill/>
                </a:ln>
                <a:effectLst/>
                <a:latin typeface="Arial" panose="020B0604020202020204" pitchFamily="34" charset="0"/>
              </a:rPr>
              <a:t>Considers frictionless interaction between the cart and the bridge to simplify the horizontal motion dynamics.</a:t>
            </a:r>
          </a:p>
          <a:p>
            <a:pPr marL="0" marR="0" lvl="0" indent="0" defTabSz="914400" rtl="0" eaLnBrk="0" fontAlgn="base" latinLnBrk="0" hangingPunct="0">
              <a:spcBef>
                <a:spcPct val="0"/>
              </a:spcBef>
              <a:spcAft>
                <a:spcPct val="0"/>
              </a:spcAft>
              <a:buClrTx/>
              <a:buSzTx/>
              <a:buFontTx/>
              <a:buChar char="•"/>
              <a:tabLst/>
            </a:pPr>
            <a:r>
              <a:rPr kumimoji="0" lang="en-US" altLang="en-US" sz="1600" b="0" i="0" u="none" strike="noStrike" cap="none" normalizeH="0" baseline="0">
                <a:ln>
                  <a:noFill/>
                </a:ln>
                <a:effectLst/>
                <a:latin typeface="Arial" panose="020B0604020202020204" pitchFamily="34" charset="0"/>
              </a:rPr>
              <a:t>Neglects the engine's nonlinearities and dynamics, focusing on direct control inputs which simplify the development and analysis of the control system.</a:t>
            </a:r>
          </a:p>
          <a:p>
            <a:pPr marL="0" marR="0" lvl="0" indent="0" defTabSz="914400" rtl="0" eaLnBrk="0" fontAlgn="base" latinLnBrk="0" hangingPunct="0">
              <a:spcBef>
                <a:spcPct val="0"/>
              </a:spcBef>
              <a:spcAft>
                <a:spcPct val="0"/>
              </a:spcAft>
              <a:buClrTx/>
              <a:buSzTx/>
              <a:buNone/>
              <a:tabLst/>
            </a:pPr>
            <a:endParaRPr kumimoji="0" lang="en-US" altLang="en-US" sz="1600" b="0" i="0" u="none" strike="noStrike" cap="none" normalizeH="0" baseline="0">
              <a:ln>
                <a:noFill/>
              </a:ln>
              <a:effectLst/>
              <a:latin typeface="Arial" panose="020B0604020202020204" pitchFamily="34" charset="0"/>
            </a:endParaRPr>
          </a:p>
          <a:p>
            <a:pPr marL="0" marR="0" lvl="0" indent="0" defTabSz="914400" rtl="0" eaLnBrk="0" fontAlgn="base" latinLnBrk="0" hangingPunct="0">
              <a:spcBef>
                <a:spcPct val="0"/>
              </a:spcBef>
              <a:spcAft>
                <a:spcPct val="0"/>
              </a:spcAft>
              <a:buClrTx/>
              <a:buSzTx/>
              <a:buNone/>
              <a:tabLst/>
            </a:pPr>
            <a:r>
              <a:rPr kumimoji="0" lang="en-US" altLang="en-US" sz="1600" b="1" i="0" u="none" strike="noStrike" cap="none" normalizeH="0" baseline="0">
                <a:ln>
                  <a:noFill/>
                </a:ln>
                <a:effectLst/>
                <a:latin typeface="Arial" panose="020B0604020202020204" pitchFamily="34" charset="0"/>
              </a:rPr>
              <a:t>System Equations:</a:t>
            </a:r>
            <a:r>
              <a:rPr kumimoji="0" lang="en-US" altLang="en-US" sz="1600" b="0" i="0" u="none" strike="noStrike" cap="none" normalizeH="0" baseline="0">
                <a:ln>
                  <a:noFill/>
                </a:ln>
                <a:effectLst/>
                <a:latin typeface="Arial" panose="020B0604020202020204" pitchFamily="34" charset="0"/>
              </a:rPr>
              <a:t> Utilizes fundamental physics to derive nonlinear differential equations that capture the essential dynamics of crane operation under different load conditions.</a:t>
            </a:r>
          </a:p>
          <a:p>
            <a:pPr marL="0" marR="0" lvl="0" indent="0" defTabSz="914400" rtl="0" eaLnBrk="0" fontAlgn="base" latinLnBrk="0" hangingPunct="0">
              <a:spcBef>
                <a:spcPct val="0"/>
              </a:spcBef>
              <a:spcAft>
                <a:spcPct val="0"/>
              </a:spcAft>
              <a:buClrTx/>
              <a:buSzTx/>
              <a:buNone/>
              <a:tabLst/>
            </a:pPr>
            <a:endParaRPr kumimoji="0" lang="en-US" altLang="en-US" sz="1600" b="0" i="0" u="none" strike="noStrike" cap="none" normalizeH="0" baseline="0">
              <a:ln>
                <a:noFill/>
              </a:ln>
              <a:effectLst/>
              <a:latin typeface="Arial" panose="020B0604020202020204" pitchFamily="34" charset="0"/>
            </a:endParaRPr>
          </a:p>
          <a:p>
            <a:pPr marL="0" indent="0">
              <a:buNone/>
            </a:pPr>
            <a:endParaRPr lang="en-US" sz="1600"/>
          </a:p>
        </p:txBody>
      </p:sp>
      <p:grpSp>
        <p:nvGrpSpPr>
          <p:cNvPr id="11" name="Group 10">
            <a:extLst>
              <a:ext uri="{FF2B5EF4-FFF2-40B4-BE49-F238E27FC236}">
                <a16:creationId xmlns:a16="http://schemas.microsoft.com/office/drawing/2014/main" id="{11002ACD-3B0C-4885-8754-8A00E926FE4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2" name="Oval 11">
              <a:extLst>
                <a:ext uri="{FF2B5EF4-FFF2-40B4-BE49-F238E27FC236}">
                  <a16:creationId xmlns:a16="http://schemas.microsoft.com/office/drawing/2014/main" id="{DF0313CD-4196-4456-A70D-5EE2B995B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80DE0B32-9EE8-4975-AD48-3855B0A82A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8F41E50-AD37-69B0-B25B-24667379BE0B}"/>
              </a:ext>
            </a:extLst>
          </p:cNvPr>
          <p:cNvSpPr>
            <a:spLocks noGrp="1"/>
          </p:cNvSpPr>
          <p:nvPr>
            <p:ph type="subTitle" idx="1"/>
          </p:nvPr>
        </p:nvSpPr>
        <p:spPr>
          <a:xfrm>
            <a:off x="0" y="737420"/>
            <a:ext cx="9143999" cy="6120580"/>
          </a:xfrm>
        </p:spPr>
        <p:txBody>
          <a:bodyPr>
            <a:norm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Linearization Approach:</a:t>
            </a:r>
            <a:r>
              <a:rPr kumimoji="0" lang="en-US" altLang="en-US" sz="1800" b="0" i="0" u="none" strike="noStrike" cap="none" normalizeH="0" baseline="0" dirty="0">
                <a:ln>
                  <a:noFill/>
                </a:ln>
                <a:solidFill>
                  <a:schemeClr val="tx1"/>
                </a:solidFill>
                <a:effectLst/>
                <a:latin typeface="Arial" panose="020B0604020202020204" pitchFamily="34" charset="0"/>
              </a:rPr>
              <a:t> Includes linearizing the derived equations around a nominal operating point to facilitate the application of linear control techniques, enhancing predictability and stability in control responses.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Feedback Control Design:</a:t>
            </a:r>
            <a:r>
              <a:rPr kumimoji="0" lang="en-US" altLang="en-US" sz="1800" b="0" i="0" u="none" strike="noStrike" cap="none" normalizeH="0" baseline="0" dirty="0">
                <a:ln>
                  <a:noFill/>
                </a:ln>
                <a:solidFill>
                  <a:schemeClr val="tx1"/>
                </a:solidFill>
                <a:effectLst/>
                <a:latin typeface="Arial" panose="020B0604020202020204" pitchFamily="34" charset="0"/>
              </a:rPr>
              <a:t> The project emphasizes designing a feedback control system that responds efficiently to real-time operational parameters, ensuring minimal load oscillation and optimal positioning accuracy.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Safety and Efficiency:</a:t>
            </a:r>
            <a:r>
              <a:rPr kumimoji="0" lang="en-US" altLang="en-US" sz="1800" b="0" i="0" u="none" strike="noStrike" cap="none" normalizeH="0" baseline="0" dirty="0">
                <a:ln>
                  <a:noFill/>
                </a:ln>
                <a:solidFill>
                  <a:schemeClr val="tx1"/>
                </a:solidFill>
                <a:effectLst/>
                <a:latin typeface="Arial" panose="020B0604020202020204" pitchFamily="34" charset="0"/>
              </a:rPr>
              <a:t> By addressing the dynamic response of the system to varying loads and operational conditions, the control system design inherently incorporates safety limits and efficiency metrics, crucial for high-risk environments like seaports.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Keywords:</a:t>
            </a:r>
            <a:r>
              <a:rPr kumimoji="0" lang="en-US" altLang="en-US" sz="1800" b="0" i="0" u="none" strike="noStrike" cap="none" normalizeH="0" baseline="0" dirty="0">
                <a:ln>
                  <a:noFill/>
                </a:ln>
                <a:solidFill>
                  <a:schemeClr val="tx1"/>
                </a:solidFill>
                <a:effectLst/>
                <a:latin typeface="Arial" panose="020B0604020202020204" pitchFamily="34" charset="0"/>
              </a:rPr>
              <a:t> Bridge Crane, Dynamic Modeling, Nonlinear Differential Equations, Linearization, Feedback Control System, Load Stability, Seaport Operations, Safety Optimization.</a:t>
            </a:r>
          </a:p>
          <a:p>
            <a:endParaRPr lang="en-US" dirty="0"/>
          </a:p>
        </p:txBody>
      </p:sp>
    </p:spTree>
    <p:extLst>
      <p:ext uri="{BB962C8B-B14F-4D97-AF65-F5344CB8AC3E}">
        <p14:creationId xmlns:p14="http://schemas.microsoft.com/office/powerpoint/2010/main" val="29687745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464119"/>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601952"/>
            <a:ext cx="7667244"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8378" y="2038655"/>
            <a:ext cx="7667244"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descr="A diagram of a machine&#10;&#10;Description automatically generated">
            <a:extLst>
              <a:ext uri="{FF2B5EF4-FFF2-40B4-BE49-F238E27FC236}">
                <a16:creationId xmlns:a16="http://schemas.microsoft.com/office/drawing/2014/main" id="{B9F09B9F-68F6-2955-69FA-AA6DA85CAE1C}"/>
              </a:ext>
            </a:extLst>
          </p:cNvPr>
          <p:cNvPicPr>
            <a:picLocks noChangeAspect="1"/>
          </p:cNvPicPr>
          <p:nvPr/>
        </p:nvPicPr>
        <p:blipFill>
          <a:blip r:embed="rId4"/>
          <a:srcRect l="25310" r="20233" b="1"/>
          <a:stretch/>
        </p:blipFill>
        <p:spPr>
          <a:xfrm>
            <a:off x="755397" y="2265037"/>
            <a:ext cx="3816600" cy="3907158"/>
          </a:xfrm>
          <a:prstGeom prst="rect">
            <a:avLst/>
          </a:prstGeom>
        </p:spPr>
      </p:pic>
      <p:sp>
        <p:nvSpPr>
          <p:cNvPr id="3" name="Content Placeholder 2"/>
          <p:cNvSpPr>
            <a:spLocks noGrp="1"/>
          </p:cNvSpPr>
          <p:nvPr>
            <p:ph idx="1"/>
          </p:nvPr>
        </p:nvSpPr>
        <p:spPr>
          <a:xfrm>
            <a:off x="4872162" y="2320412"/>
            <a:ext cx="3474023" cy="3851787"/>
          </a:xfrm>
        </p:spPr>
        <p:txBody>
          <a:bodyPr anchor="ctr">
            <a:normAutofit/>
          </a:bodyPr>
          <a:lstStyle/>
          <a:p>
            <a:r>
              <a:rPr lang="en-US" sz="1700">
                <a:latin typeface="Arial" panose="020B0604020202020204" pitchFamily="34" charset="0"/>
                <a:cs typeface="Arial" panose="020B0604020202020204" pitchFamily="34" charset="0"/>
              </a:rPr>
              <a:t>Purpose: Design a control system for a bridge crane that efficiently and safely transfers loads while ensuring stability.</a:t>
            </a:r>
          </a:p>
          <a:p>
            <a:r>
              <a:rPr lang="en-US" sz="1700">
                <a:latin typeface="Arial" panose="020B0604020202020204" pitchFamily="34" charset="0"/>
                <a:cs typeface="Arial" panose="020B0604020202020204" pitchFamily="34" charset="0"/>
              </a:rPr>
              <a:t>Scope: Involves modeling the crane system's dynamics, designing controllers, and evaluating performance under uncertainty.</a:t>
            </a:r>
          </a:p>
          <a:p>
            <a:r>
              <a:rPr lang="en-US" sz="1700">
                <a:latin typeface="Arial" panose="020B0604020202020204" pitchFamily="34" charset="0"/>
                <a:cs typeface="Arial" panose="020B0604020202020204" pitchFamily="34" charset="0"/>
              </a:rPr>
              <a:t>Relevance: Bridge cranes are crucial for industrial operations, particularly in logistics and shipping.</a:t>
            </a:r>
          </a:p>
        </p:txBody>
      </p:sp>
      <p:sp>
        <p:nvSpPr>
          <p:cNvPr id="20" name="Oval 19">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51293" y="6229681"/>
            <a:ext cx="342900" cy="45720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22" name="Oval 21">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73188" y="6258874"/>
            <a:ext cx="299110"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normAutofit/>
          </a:bodyPr>
          <a:lstStyle/>
          <a:p>
            <a:r>
              <a:rPr sz="1800" dirty="0">
                <a:latin typeface="Arial" panose="020B0604020202020204" pitchFamily="34" charset="0"/>
                <a:cs typeface="Arial" panose="020B0604020202020204" pitchFamily="34" charset="0"/>
              </a:rPr>
              <a:t>This project addresses key questions such as developing nonlinear state-space equations, performing linearization around equilibrium points, designing optimal controllers</a:t>
            </a:r>
            <a:r>
              <a:rPr lang="en-IN" sz="1800" dirty="0">
                <a:latin typeface="Arial" panose="020B0604020202020204" pitchFamily="34" charset="0"/>
                <a:cs typeface="Arial" panose="020B0604020202020204" pitchFamily="34" charset="0"/>
              </a:rPr>
              <a:t>, observers</a:t>
            </a:r>
            <a:r>
              <a:rPr sz="1800" dirty="0">
                <a:latin typeface="Arial" panose="020B0604020202020204" pitchFamily="34" charset="0"/>
                <a:cs typeface="Arial" panose="020B0604020202020204" pitchFamily="34" charset="0"/>
              </a:rPr>
              <a:t>, and evaluating the system's stability and robustness under disturbances.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Methodology Overview</a:t>
            </a:r>
          </a:p>
        </p:txBody>
      </p:sp>
      <p:sp>
        <p:nvSpPr>
          <p:cNvPr id="3" name="Content Placeholder 2"/>
          <p:cNvSpPr>
            <a:spLocks noGrp="1"/>
          </p:cNvSpPr>
          <p:nvPr>
            <p:ph idx="1"/>
          </p:nvPr>
        </p:nvSpPr>
        <p:spPr/>
        <p:txBody>
          <a:bodyPr/>
          <a:lstStyle/>
          <a:p>
            <a:r>
              <a:rPr dirty="0"/>
              <a:t>Nonlinear State-Space Equations: Formulation of dynamics equations.</a:t>
            </a:r>
          </a:p>
          <a:p>
            <a:r>
              <a:rPr dirty="0"/>
              <a:t>Linearization: Simplifying equations around equilibrium for analysis.</a:t>
            </a:r>
          </a:p>
          <a:p>
            <a:r>
              <a:rPr dirty="0"/>
              <a:t>Transfer Function Analysis: Examining stability and control feasibility.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DD5F8-C645-E250-1D13-4DF7E3280CFC}"/>
              </a:ext>
            </a:extLst>
          </p:cNvPr>
          <p:cNvSpPr>
            <a:spLocks noGrp="1"/>
          </p:cNvSpPr>
          <p:nvPr>
            <p:ph type="ctrTitle"/>
          </p:nvPr>
        </p:nvSpPr>
        <p:spPr>
          <a:xfrm>
            <a:off x="803788" y="363793"/>
            <a:ext cx="7772400" cy="1101213"/>
          </a:xfrm>
        </p:spPr>
        <p:txBody>
          <a:bodyPr/>
          <a:lstStyle/>
          <a:p>
            <a:r>
              <a:rPr lang="en-US" dirty="0"/>
              <a:t>Nonlinear State-Space Equations</a:t>
            </a:r>
          </a:p>
        </p:txBody>
      </p:sp>
      <p:sp>
        <p:nvSpPr>
          <p:cNvPr id="4" name="Rectangle 1">
            <a:extLst>
              <a:ext uri="{FF2B5EF4-FFF2-40B4-BE49-F238E27FC236}">
                <a16:creationId xmlns:a16="http://schemas.microsoft.com/office/drawing/2014/main" id="{BBA07D46-5107-EC7A-997B-913961425D3F}"/>
              </a:ext>
            </a:extLst>
          </p:cNvPr>
          <p:cNvSpPr>
            <a:spLocks noGrp="1" noChangeArrowheads="1"/>
          </p:cNvSpPr>
          <p:nvPr>
            <p:ph type="subTitle" idx="1"/>
          </p:nvPr>
        </p:nvSpPr>
        <p:spPr bwMode="auto">
          <a:xfrm>
            <a:off x="113072" y="1743259"/>
            <a:ext cx="903092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System Overview:</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Model the dynamics of a bridge crane system for efficient load transfer.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Components:</a:t>
            </a:r>
            <a:r>
              <a:rPr kumimoji="0" lang="en-US" altLang="en-US" sz="1800" b="0" i="0" u="none" strike="noStrike" cap="none" normalizeH="0" baseline="0" dirty="0">
                <a:ln>
                  <a:noFill/>
                </a:ln>
                <a:solidFill>
                  <a:schemeClr val="tx1"/>
                </a:solidFill>
                <a:effectLst/>
                <a:latin typeface="Arial" panose="020B0604020202020204" pitchFamily="34" charset="0"/>
              </a:rPr>
              <a:t> Cart (mass M), load (mass m), cable (length 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Dynamics:</a:t>
            </a:r>
            <a:r>
              <a:rPr kumimoji="0" lang="en-US" altLang="en-US" sz="1800" b="0" i="0" u="none" strike="noStrike" cap="none" normalizeH="0" baseline="0" dirty="0">
                <a:ln>
                  <a:noFill/>
                </a:ln>
                <a:solidFill>
                  <a:schemeClr val="tx1"/>
                </a:solidFill>
                <a:effectLst/>
                <a:latin typeface="Arial" panose="020B0604020202020204" pitchFamily="34" charset="0"/>
              </a:rPr>
              <a:t> Governed by the interactions between the cart's motion and the load’s swing.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Equations of Motion: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Horizontal Forces on the Cart:</a:t>
            </a:r>
            <a:r>
              <a:rPr kumimoji="0" lang="en-US" altLang="en-US" sz="1800" b="0" i="0" u="none" strike="noStrike" cap="none" normalizeH="0" baseline="0" dirty="0">
                <a:ln>
                  <a:noFill/>
                </a:ln>
                <a:solidFill>
                  <a:schemeClr val="tx1"/>
                </a:solidFill>
                <a:effectLst/>
                <a:latin typeface="Arial" panose="020B0604020202020204" pitchFamily="34" charset="0"/>
              </a:rPr>
              <a:t> Mx¨1=</a:t>
            </a:r>
            <a:r>
              <a:rPr kumimoji="0" lang="en-US" altLang="en-US" sz="1800" b="0" i="0" u="none" strike="noStrike" cap="none" normalizeH="0" baseline="0" dirty="0" err="1">
                <a:ln>
                  <a:noFill/>
                </a:ln>
                <a:solidFill>
                  <a:schemeClr val="tx1"/>
                </a:solidFill>
                <a:effectLst/>
                <a:latin typeface="Arial" panose="020B0604020202020204" pitchFamily="34" charset="0"/>
              </a:rPr>
              <a:t>u+Fsin</a:t>
            </a:r>
            <a:r>
              <a:rPr kumimoji="0" lang="en-US" altLang="en-US" sz="1800" b="0" i="0" u="none" strike="noStrike" cap="none" normalizeH="0" baseline="0" dirty="0">
                <a:ln>
                  <a:noFill/>
                </a:ln>
                <a:solidFill>
                  <a:schemeClr val="tx1"/>
                </a:solidFill>
                <a:effectLst/>
                <a:latin typeface="Arial" panose="020B0604020202020204" pitchFamily="34" charset="0"/>
              </a:rPr>
              <a:t>⁡(ϕ)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Horizontal Forces on the Load:</a:t>
            </a:r>
            <a:r>
              <a:rPr kumimoji="0" lang="en-US" altLang="en-US" sz="1800" b="0" i="0" u="none" strike="noStrike" cap="none" normalizeH="0" baseline="0" dirty="0">
                <a:ln>
                  <a:noFill/>
                </a:ln>
                <a:solidFill>
                  <a:schemeClr val="tx1"/>
                </a:solidFill>
                <a:effectLst/>
                <a:latin typeface="Arial" panose="020B0604020202020204" pitchFamily="34" charset="0"/>
              </a:rPr>
              <a:t> my¨=−</a:t>
            </a:r>
            <a:r>
              <a:rPr kumimoji="0" lang="en-US" altLang="en-US" sz="1800" b="0" i="0" u="none" strike="noStrike" cap="none" normalizeH="0" baseline="0" dirty="0" err="1">
                <a:ln>
                  <a:noFill/>
                </a:ln>
                <a:solidFill>
                  <a:schemeClr val="tx1"/>
                </a:solidFill>
                <a:effectLst/>
                <a:latin typeface="Arial" panose="020B0604020202020204" pitchFamily="34" charset="0"/>
              </a:rPr>
              <a:t>Fsin</a:t>
            </a:r>
            <a:r>
              <a:rPr kumimoji="0" lang="en-US" altLang="en-US" sz="1800" b="0" i="0" u="none" strike="noStrike" cap="none" normalizeH="0" baseline="0" dirty="0">
                <a:ln>
                  <a:noFill/>
                </a:ln>
                <a:solidFill>
                  <a:schemeClr val="tx1"/>
                </a:solidFill>
                <a:effectLst/>
                <a:latin typeface="Arial" panose="020B0604020202020204" pitchFamily="34" charset="0"/>
              </a:rPr>
              <a:t>⁡(ϕ)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Vertical Forces on the Load: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mz</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Fcos</a:t>
            </a:r>
            <a:r>
              <a:rPr kumimoji="0" lang="en-US" altLang="en-US" sz="1800" b="0" i="0" u="none" strike="noStrike" cap="none" normalizeH="0" baseline="0" dirty="0">
                <a:ln>
                  <a:noFill/>
                </a:ln>
                <a:solidFill>
                  <a:schemeClr val="tx1"/>
                </a:solidFill>
                <a:effectLst/>
                <a:latin typeface="Arial" panose="020B0604020202020204" pitchFamily="34" charset="0"/>
              </a:rPr>
              <a:t>⁡(ϕ)+mg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State-Space Representation:</a:t>
            </a:r>
            <a:r>
              <a:rPr kumimoji="0" lang="en-US" altLang="en-US" sz="1800" b="0" i="0" u="none" strike="noStrike" cap="none" normalizeH="0" baseline="0" dirty="0">
                <a:ln>
                  <a:noFill/>
                </a:ln>
                <a:solidFill>
                  <a:schemeClr val="tx1"/>
                </a:solidFill>
                <a:effectLst/>
                <a:latin typeface="Arial" panose="020B0604020202020204" pitchFamily="34" charset="0"/>
              </a:rPr>
              <a:t> x˙=f(</a:t>
            </a:r>
            <a:r>
              <a:rPr kumimoji="0" lang="en-US" altLang="en-US" sz="1800" b="0" i="0" u="none" strike="noStrike" cap="none" normalizeH="0" baseline="0" dirty="0" err="1">
                <a:ln>
                  <a:noFill/>
                </a:ln>
                <a:solidFill>
                  <a:schemeClr val="tx1"/>
                </a:solidFill>
                <a:effectLst/>
                <a:latin typeface="Arial" panose="020B0604020202020204" pitchFamily="34" charset="0"/>
              </a:rPr>
              <a:t>x,u</a:t>
            </a:r>
            <a:r>
              <a:rPr kumimoji="0" lang="en-US" altLang="en-US" sz="1800" b="0" i="0" u="none" strike="noStrike" cap="none" normalizeH="0" baseline="0" dirty="0">
                <a:ln>
                  <a:noFill/>
                </a:ln>
                <a:solidFill>
                  <a:schemeClr val="tx1"/>
                </a:solidFill>
                <a:effectLst/>
                <a:latin typeface="Arial" panose="020B0604020202020204" pitchFamily="34" charset="0"/>
              </a:rPr>
              <a:t>)\ where x=[x1,x˙1,ϕ,ϕ˙]</a:t>
            </a:r>
          </a:p>
          <a:p>
            <a:pPr marL="0" marR="0" lvl="0" indent="0" algn="l" defTabSz="914400" rtl="0" eaLnBrk="0" fontAlgn="base" latinLnBrk="0" hangingPunct="0">
              <a:lnSpc>
                <a:spcPct val="100000"/>
              </a:lnSpc>
              <a:spcBef>
                <a:spcPct val="0"/>
              </a:spcBef>
              <a:spcAft>
                <a:spcPct val="0"/>
              </a:spcAft>
              <a:buClrTx/>
              <a:buSzTx/>
              <a:tabLst/>
            </a:pPr>
            <a:endParaRPr lang="en-US" altLang="en-US"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1800" b="1" dirty="0">
                <a:solidFill>
                  <a:schemeClr val="tx1"/>
                </a:solidFill>
                <a:latin typeface="Arial" panose="020B0604020202020204" pitchFamily="34" charset="0"/>
                <a:cs typeface="Arial" panose="020B0604020202020204" pitchFamily="34" charset="0"/>
              </a:rPr>
              <a:t>MATLAB Implementation:</a:t>
            </a:r>
            <a:endParaRPr lang="en-US" sz="1800" dirty="0">
              <a:solidFill>
                <a:schemeClr val="tx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sz="1800" b="1" dirty="0">
                <a:solidFill>
                  <a:schemeClr val="tx1"/>
                </a:solidFill>
                <a:latin typeface="Arial" panose="020B0604020202020204" pitchFamily="34" charset="0"/>
                <a:cs typeface="Arial" panose="020B0604020202020204" pitchFamily="34" charset="0"/>
              </a:rPr>
              <a:t>Parameter Definition:</a:t>
            </a:r>
            <a:r>
              <a:rPr lang="en-US" sz="1800" dirty="0">
                <a:solidFill>
                  <a:schemeClr val="tx1"/>
                </a:solidFill>
                <a:latin typeface="Arial" panose="020B0604020202020204" pitchFamily="34" charset="0"/>
                <a:cs typeface="Arial" panose="020B0604020202020204" pitchFamily="34" charset="0"/>
              </a:rPr>
              <a:t> Mass of cart M, load m, cable length L, gravitational constant g.</a:t>
            </a:r>
          </a:p>
          <a:p>
            <a:pPr marL="0" marR="0" lvl="0" indent="0" algn="l" defTabSz="914400" rtl="0" eaLnBrk="0" fontAlgn="base" latinLnBrk="0" hangingPunct="0">
              <a:lnSpc>
                <a:spcPct val="100000"/>
              </a:lnSpc>
              <a:spcBef>
                <a:spcPct val="0"/>
              </a:spcBef>
              <a:spcAft>
                <a:spcPct val="0"/>
              </a:spcAft>
              <a:buClrTx/>
              <a:buSzTx/>
              <a:buFontTx/>
              <a:buChar char="•"/>
              <a:tabLst/>
            </a:pPr>
            <a:r>
              <a:rPr lang="en-US" sz="1800" b="1" dirty="0">
                <a:solidFill>
                  <a:schemeClr val="tx1"/>
                </a:solidFill>
                <a:latin typeface="Arial" panose="020B0604020202020204" pitchFamily="34" charset="0"/>
                <a:cs typeface="Arial" panose="020B0604020202020204" pitchFamily="34" charset="0"/>
              </a:rPr>
              <a:t>State Variables:</a:t>
            </a:r>
            <a:r>
              <a:rPr lang="en-US" sz="1800" dirty="0">
                <a:solidFill>
                  <a:schemeClr val="tx1"/>
                </a:solidFill>
                <a:latin typeface="Arial" panose="020B0604020202020204" pitchFamily="34" charset="0"/>
                <a:cs typeface="Arial" panose="020B0604020202020204" pitchFamily="34" charset="0"/>
              </a:rPr>
              <a:t> Position x1​, velocity x˙1​, cable angle </a:t>
            </a:r>
            <a:r>
              <a:rPr lang="el-GR" sz="1800" dirty="0">
                <a:solidFill>
                  <a:schemeClr val="tx1"/>
                </a:solidFill>
                <a:latin typeface="Arial" panose="020B0604020202020204" pitchFamily="34" charset="0"/>
                <a:cs typeface="Arial" panose="020B0604020202020204" pitchFamily="34" charset="0"/>
              </a:rPr>
              <a:t>ϕ, </a:t>
            </a:r>
            <a:r>
              <a:rPr lang="en-US" sz="1800" dirty="0">
                <a:solidFill>
                  <a:schemeClr val="tx1"/>
                </a:solidFill>
                <a:latin typeface="Arial" panose="020B0604020202020204" pitchFamily="34" charset="0"/>
                <a:cs typeface="Arial" panose="020B0604020202020204" pitchFamily="34" charset="0"/>
              </a:rPr>
              <a:t>angular velocity </a:t>
            </a:r>
            <a:r>
              <a:rPr lang="el-GR" sz="1800" dirty="0">
                <a:solidFill>
                  <a:schemeClr val="tx1"/>
                </a:solidFill>
                <a:latin typeface="Arial" panose="020B0604020202020204" pitchFamily="34" charset="0"/>
                <a:cs typeface="Arial" panose="020B0604020202020204" pitchFamily="34" charset="0"/>
              </a:rPr>
              <a:t>ϕ˙</a:t>
            </a:r>
            <a:r>
              <a:rPr lang="en-US" sz="1800" dirty="0">
                <a:solidFill>
                  <a:schemeClr val="tx1"/>
                </a:solidFill>
                <a:latin typeface="Arial" panose="020B0604020202020204" pitchFamily="34" charset="0"/>
                <a:cs typeface="Arial" panose="020B0604020202020204" pitchFamily="34" charset="0"/>
              </a:rPr>
              <a:t>.</a:t>
            </a:r>
            <a:endParaRPr lang="el-GR" sz="1800" dirty="0">
              <a:solidFill>
                <a:schemeClr val="tx1"/>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solidFill>
                <a:schemeClr val="tx1"/>
              </a:solidFill>
              <a:latin typeface="Arial" panose="020B0604020202020204" pitchFamily="34" charset="0"/>
            </a:endParaRPr>
          </a:p>
        </p:txBody>
      </p:sp>
    </p:spTree>
    <p:extLst>
      <p:ext uri="{BB962C8B-B14F-4D97-AF65-F5344CB8AC3E}">
        <p14:creationId xmlns:p14="http://schemas.microsoft.com/office/powerpoint/2010/main" val="1750732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omputer screen with white text&#10;&#10;Description automatically generated">
            <a:extLst>
              <a:ext uri="{FF2B5EF4-FFF2-40B4-BE49-F238E27FC236}">
                <a16:creationId xmlns:a16="http://schemas.microsoft.com/office/drawing/2014/main" id="{55A50B19-5E2A-3D46-5E0E-596D6CAF4A34}"/>
              </a:ext>
            </a:extLst>
          </p:cNvPr>
          <p:cNvPicPr>
            <a:picLocks noChangeAspect="1"/>
          </p:cNvPicPr>
          <p:nvPr/>
        </p:nvPicPr>
        <p:blipFill>
          <a:blip r:embed="rId2"/>
          <a:stretch>
            <a:fillRect/>
          </a:stretch>
        </p:blipFill>
        <p:spPr>
          <a:xfrm>
            <a:off x="1472381" y="5559045"/>
            <a:ext cx="5943600" cy="941705"/>
          </a:xfrm>
          <a:prstGeom prst="rect">
            <a:avLst/>
          </a:prstGeom>
        </p:spPr>
      </p:pic>
      <p:pic>
        <p:nvPicPr>
          <p:cNvPr id="6" name="Picture 5">
            <a:extLst>
              <a:ext uri="{FF2B5EF4-FFF2-40B4-BE49-F238E27FC236}">
                <a16:creationId xmlns:a16="http://schemas.microsoft.com/office/drawing/2014/main" id="{0CE540E5-1437-EB3E-C231-E03C8031357F}"/>
              </a:ext>
            </a:extLst>
          </p:cNvPr>
          <p:cNvPicPr>
            <a:picLocks noChangeAspect="1"/>
          </p:cNvPicPr>
          <p:nvPr/>
        </p:nvPicPr>
        <p:blipFill>
          <a:blip r:embed="rId3"/>
          <a:stretch>
            <a:fillRect/>
          </a:stretch>
        </p:blipFill>
        <p:spPr>
          <a:xfrm>
            <a:off x="1404670" y="2586457"/>
            <a:ext cx="6011311" cy="2256841"/>
          </a:xfrm>
          <a:prstGeom prst="rect">
            <a:avLst/>
          </a:prstGeom>
        </p:spPr>
      </p:pic>
      <p:pic>
        <p:nvPicPr>
          <p:cNvPr id="8" name="Picture 7">
            <a:extLst>
              <a:ext uri="{FF2B5EF4-FFF2-40B4-BE49-F238E27FC236}">
                <a16:creationId xmlns:a16="http://schemas.microsoft.com/office/drawing/2014/main" id="{036DCE81-2D88-5F1C-FEB5-28BC1FC9379F}"/>
              </a:ext>
            </a:extLst>
          </p:cNvPr>
          <p:cNvPicPr>
            <a:picLocks noChangeAspect="1"/>
          </p:cNvPicPr>
          <p:nvPr/>
        </p:nvPicPr>
        <p:blipFill>
          <a:blip r:embed="rId4"/>
          <a:stretch>
            <a:fillRect/>
          </a:stretch>
        </p:blipFill>
        <p:spPr>
          <a:xfrm>
            <a:off x="2550447" y="1203902"/>
            <a:ext cx="3787468" cy="1333616"/>
          </a:xfrm>
          <a:prstGeom prst="rect">
            <a:avLst/>
          </a:prstGeom>
        </p:spPr>
      </p:pic>
    </p:spTree>
    <p:extLst>
      <p:ext uri="{BB962C8B-B14F-4D97-AF65-F5344CB8AC3E}">
        <p14:creationId xmlns:p14="http://schemas.microsoft.com/office/powerpoint/2010/main" val="2414902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DEFC2-0140-497A-CB15-F1F073EF3A85}"/>
              </a:ext>
            </a:extLst>
          </p:cNvPr>
          <p:cNvSpPr>
            <a:spLocks noGrp="1"/>
          </p:cNvSpPr>
          <p:nvPr>
            <p:ph type="ctrTitle"/>
          </p:nvPr>
        </p:nvSpPr>
        <p:spPr>
          <a:xfrm>
            <a:off x="1093839" y="154141"/>
            <a:ext cx="6678561" cy="917575"/>
          </a:xfrm>
        </p:spPr>
        <p:txBody>
          <a:bodyPr/>
          <a:lstStyle/>
          <a:p>
            <a:r>
              <a:rPr lang="en-US" dirty="0"/>
              <a:t>Linearization</a:t>
            </a:r>
          </a:p>
        </p:txBody>
      </p:sp>
      <mc:AlternateContent xmlns:mc="http://schemas.openxmlformats.org/markup-compatibility/2006">
        <mc:Choice xmlns:a14="http://schemas.microsoft.com/office/drawing/2010/main" Requires="a14">
          <p:sp>
            <p:nvSpPr>
              <p:cNvPr id="3" name="Subtitle 2">
                <a:extLst>
                  <a:ext uri="{FF2B5EF4-FFF2-40B4-BE49-F238E27FC236}">
                    <a16:creationId xmlns:a16="http://schemas.microsoft.com/office/drawing/2014/main" id="{6A982F40-DA8E-95EC-4C95-E14A9F890B7B}"/>
                  </a:ext>
                </a:extLst>
              </p:cNvPr>
              <p:cNvSpPr>
                <a:spLocks noGrp="1"/>
              </p:cNvSpPr>
              <p:nvPr>
                <p:ph type="subTitle" idx="1"/>
              </p:nvPr>
            </p:nvSpPr>
            <p:spPr>
              <a:xfrm>
                <a:off x="408037" y="1408470"/>
                <a:ext cx="8146027" cy="2544097"/>
              </a:xfrm>
            </p:spPr>
            <p:txBody>
              <a:bodyPr>
                <a:noAutofit/>
              </a:bodyPr>
              <a:lstStyle/>
              <a:p>
                <a:pPr marL="0" marR="0" algn="l">
                  <a:lnSpc>
                    <a:spcPct val="115000"/>
                  </a:lnSpc>
                  <a:spcAft>
                    <a:spcPts val="800"/>
                  </a:spcAft>
                  <a:tabLst>
                    <a:tab pos="457200" algn="l"/>
                  </a:tabLst>
                </a:pPr>
                <a:r>
                  <a:rPr lang="en-US" sz="18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Linearization around equilibrium ϕ=0, ϕ˙=0:</a:t>
                </a:r>
                <a:br>
                  <a:rPr lang="en-US" sz="18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br>
                <a:r>
                  <a:rPr lang="en-US" sz="18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Approximations: cos(ϕ)≈1, sin(ϕ)≈0</a:t>
                </a:r>
              </a:p>
              <a:p>
                <a:pPr marL="0" marR="0" algn="l">
                  <a:lnSpc>
                    <a:spcPct val="115000"/>
                  </a:lnSpc>
                  <a:spcAft>
                    <a:spcPts val="800"/>
                  </a:spcAft>
                  <a:tabLst>
                    <a:tab pos="457200" algn="l"/>
                  </a:tabLst>
                </a:pPr>
                <a:r>
                  <a:rPr lang="en-US" sz="18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Resulting in state-space form:</a:t>
                </a:r>
              </a:p>
              <a:p>
                <a:pPr marL="0" marR="0" algn="l">
                  <a:lnSpc>
                    <a:spcPct val="115000"/>
                  </a:lnSpc>
                  <a:spcAft>
                    <a:spcPts val="800"/>
                  </a:spcAft>
                </a:pPr>
                <a14:m>
                  <m:oMath xmlns:m="http://schemas.openxmlformats.org/officeDocument/2006/math">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𝑥</m:t>
                    </m:r>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m:t>
                    </m:r>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𝐴𝑥</m:t>
                    </m:r>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m:t>
                    </m:r>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𝐵𝑢</m:t>
                    </m:r>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m:t>
                    </m:r>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𝑦</m:t>
                    </m:r>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m:t>
                    </m:r>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𝐶𝑥</m:t>
                    </m:r>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m:t>
                    </m:r>
                    <m:r>
                      <a:rPr lang="en-US" sz="1800" i="1" kern="100">
                        <a:solidFill>
                          <a:schemeClr val="tx1"/>
                        </a:solidFill>
                        <a:effectLst/>
                        <a:latin typeface="Cambria Math" panose="02040503050406030204" pitchFamily="18" charset="0"/>
                        <a:ea typeface="Aptos" panose="020B0004020202020204" pitchFamily="34" charset="0"/>
                        <a:cs typeface="Gautami" panose="020B0502040204020203" pitchFamily="34" charset="0"/>
                      </a:rPr>
                      <m:t>𝐷𝑢</m:t>
                    </m:r>
                  </m:oMath>
                </a14:m>
                <a:r>
                  <a:rPr lang="en-US" sz="18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 </a:t>
                </a:r>
              </a:p>
              <a:p>
                <a:pPr algn="l"/>
                <a:r>
                  <a:rPr lang="en-US" sz="1800" dirty="0">
                    <a:solidFill>
                      <a:schemeClr val="tx1"/>
                    </a:solidFill>
                    <a:effectLst/>
                    <a:latin typeface="Arial" panose="020B0604020202020204" pitchFamily="34" charset="0"/>
                    <a:ea typeface="Aptos" panose="020B0004020202020204" pitchFamily="34" charset="0"/>
                    <a:cs typeface="Arial" panose="020B0604020202020204" pitchFamily="34" charset="0"/>
                  </a:rPr>
                  <a:t>Matrices A, B, C, and D are derived as per the problem statement.</a:t>
                </a:r>
                <a:endParaRPr lang="en-US" sz="1800" dirty="0">
                  <a:solidFill>
                    <a:schemeClr val="tx1"/>
                  </a:solidFill>
                  <a:latin typeface="Arial" panose="020B0604020202020204" pitchFamily="34" charset="0"/>
                  <a:cs typeface="Arial" panose="020B0604020202020204" pitchFamily="34" charset="0"/>
                </a:endParaRPr>
              </a:p>
            </p:txBody>
          </p:sp>
        </mc:Choice>
        <mc:Fallback>
          <p:sp>
            <p:nvSpPr>
              <p:cNvPr id="3" name="Subtitle 2">
                <a:extLst>
                  <a:ext uri="{FF2B5EF4-FFF2-40B4-BE49-F238E27FC236}">
                    <a16:creationId xmlns:a16="http://schemas.microsoft.com/office/drawing/2014/main" id="{6A982F40-DA8E-95EC-4C95-E14A9F890B7B}"/>
                  </a:ext>
                </a:extLst>
              </p:cNvPr>
              <p:cNvSpPr>
                <a:spLocks noGrp="1" noRot="1" noChangeAspect="1" noMove="1" noResize="1" noEditPoints="1" noAdjustHandles="1" noChangeArrowheads="1" noChangeShapeType="1" noTextEdit="1"/>
              </p:cNvSpPr>
              <p:nvPr>
                <p:ph type="subTitle" idx="1"/>
              </p:nvPr>
            </p:nvSpPr>
            <p:spPr>
              <a:xfrm>
                <a:off x="408037" y="1408470"/>
                <a:ext cx="8146027" cy="2544097"/>
              </a:xfrm>
              <a:blipFill>
                <a:blip r:embed="rId2"/>
                <a:stretch>
                  <a:fillRect l="-674" t="-480"/>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36D9958C-2704-406F-1AB2-6B157872FAB8}"/>
              </a:ext>
            </a:extLst>
          </p:cNvPr>
          <p:cNvPicPr>
            <a:picLocks noChangeAspect="1"/>
          </p:cNvPicPr>
          <p:nvPr/>
        </p:nvPicPr>
        <p:blipFill>
          <a:blip r:embed="rId3"/>
          <a:stretch>
            <a:fillRect/>
          </a:stretch>
        </p:blipFill>
        <p:spPr>
          <a:xfrm>
            <a:off x="834595" y="3699756"/>
            <a:ext cx="7332608" cy="1590000"/>
          </a:xfrm>
          <a:prstGeom prst="rect">
            <a:avLst/>
          </a:prstGeom>
        </p:spPr>
      </p:pic>
    </p:spTree>
    <p:extLst>
      <p:ext uri="{BB962C8B-B14F-4D97-AF65-F5344CB8AC3E}">
        <p14:creationId xmlns:p14="http://schemas.microsoft.com/office/powerpoint/2010/main" val="2967249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1571F43-5328-60E6-C2CA-77734FE59F49}"/>
              </a:ext>
            </a:extLst>
          </p:cNvPr>
          <p:cNvPicPr>
            <a:picLocks noChangeAspect="1"/>
          </p:cNvPicPr>
          <p:nvPr/>
        </p:nvPicPr>
        <p:blipFill>
          <a:blip r:embed="rId2"/>
          <a:stretch>
            <a:fillRect/>
          </a:stretch>
        </p:blipFill>
        <p:spPr>
          <a:xfrm>
            <a:off x="4444180" y="1678141"/>
            <a:ext cx="3844413" cy="4239245"/>
          </a:xfrm>
          <a:prstGeom prst="rect">
            <a:avLst/>
          </a:prstGeom>
        </p:spPr>
      </p:pic>
      <p:pic>
        <p:nvPicPr>
          <p:cNvPr id="7" name="Picture 6">
            <a:extLst>
              <a:ext uri="{FF2B5EF4-FFF2-40B4-BE49-F238E27FC236}">
                <a16:creationId xmlns:a16="http://schemas.microsoft.com/office/drawing/2014/main" id="{AF030761-E4BF-7DC2-5B7D-79FAF4C8B1F7}"/>
              </a:ext>
            </a:extLst>
          </p:cNvPr>
          <p:cNvPicPr>
            <a:picLocks noChangeAspect="1"/>
          </p:cNvPicPr>
          <p:nvPr/>
        </p:nvPicPr>
        <p:blipFill>
          <a:blip r:embed="rId3"/>
          <a:stretch>
            <a:fillRect/>
          </a:stretch>
        </p:blipFill>
        <p:spPr>
          <a:xfrm>
            <a:off x="428810" y="1764963"/>
            <a:ext cx="3191383" cy="3672276"/>
          </a:xfrm>
          <a:prstGeom prst="rect">
            <a:avLst/>
          </a:prstGeom>
        </p:spPr>
      </p:pic>
    </p:spTree>
    <p:extLst>
      <p:ext uri="{BB962C8B-B14F-4D97-AF65-F5344CB8AC3E}">
        <p14:creationId xmlns:p14="http://schemas.microsoft.com/office/powerpoint/2010/main" val="3274144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60DA-781E-2112-BBAF-88FE57016273}"/>
              </a:ext>
            </a:extLst>
          </p:cNvPr>
          <p:cNvSpPr>
            <a:spLocks noGrp="1"/>
          </p:cNvSpPr>
          <p:nvPr>
            <p:ph type="ctrTitle"/>
          </p:nvPr>
        </p:nvSpPr>
        <p:spPr>
          <a:xfrm>
            <a:off x="916858" y="501446"/>
            <a:ext cx="6855542" cy="1002890"/>
          </a:xfrm>
        </p:spPr>
        <p:txBody>
          <a:bodyPr/>
          <a:lstStyle/>
          <a:p>
            <a:r>
              <a:rPr lang="en-US" dirty="0"/>
              <a:t>Transfer Function Analysis</a:t>
            </a:r>
          </a:p>
        </p:txBody>
      </p:sp>
      <p:sp>
        <p:nvSpPr>
          <p:cNvPr id="4" name="Rectangle 1">
            <a:extLst>
              <a:ext uri="{FF2B5EF4-FFF2-40B4-BE49-F238E27FC236}">
                <a16:creationId xmlns:a16="http://schemas.microsoft.com/office/drawing/2014/main" id="{E6CA0B4C-40B7-05D9-9487-AC4923614971}"/>
              </a:ext>
            </a:extLst>
          </p:cNvPr>
          <p:cNvSpPr>
            <a:spLocks noGrp="1" noChangeArrowheads="1"/>
          </p:cNvSpPr>
          <p:nvPr>
            <p:ph type="subTitle" idx="1"/>
          </p:nvPr>
        </p:nvSpPr>
        <p:spPr bwMode="auto">
          <a:xfrm>
            <a:off x="69876" y="2050586"/>
            <a:ext cx="900424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Transfer Function Computation: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Output Definitions:</a:t>
            </a:r>
            <a:r>
              <a:rPr kumimoji="0" lang="en-US" altLang="en-US" sz="1800" b="0" i="0" u="none" strike="noStrike" cap="none" normalizeH="0" baseline="0" dirty="0">
                <a:ln>
                  <a:noFill/>
                </a:ln>
                <a:solidFill>
                  <a:schemeClr val="tx1"/>
                </a:solidFill>
                <a:effectLst/>
                <a:latin typeface="Arial" panose="020B0604020202020204" pitchFamily="34" charset="0"/>
              </a:rPr>
              <a:t> Three different outputs for system analysis: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y1: Location of the load (y = x1+L*phi)</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y2: Location of the cart (y = x1).</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y3: Cable angle (y= phi).</a:t>
            </a:r>
          </a:p>
          <a:p>
            <a:pPr marL="457200" marR="0" lvl="1"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State-Space to Transfer Function:</a:t>
            </a:r>
            <a:r>
              <a:rPr kumimoji="0" lang="en-US" altLang="en-US" sz="1800" b="0" i="0" u="none" strike="noStrike" cap="none" normalizeH="0" baseline="0" dirty="0">
                <a:ln>
                  <a:noFill/>
                </a:ln>
                <a:solidFill>
                  <a:schemeClr val="tx1"/>
                </a:solidFill>
                <a:effectLst/>
                <a:latin typeface="Arial" panose="020B0604020202020204" pitchFamily="34" charset="0"/>
              </a:rPr>
              <a:t> Conversion of state-space models to transfer functions for each defined output using MATLAB.</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54928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651D569-B8DC-4718-1BB3-491BC68B75CC}"/>
              </a:ext>
            </a:extLst>
          </p:cNvPr>
          <p:cNvSpPr>
            <a:spLocks noGrp="1"/>
          </p:cNvSpPr>
          <p:nvPr>
            <p:ph type="subTitle" idx="1"/>
          </p:nvPr>
        </p:nvSpPr>
        <p:spPr>
          <a:xfrm>
            <a:off x="255639" y="1160206"/>
            <a:ext cx="8888361" cy="4478594"/>
          </a:xfrm>
        </p:spPr>
        <p:txBody>
          <a:bodyPr>
            <a:norm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Pole-Zero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Visualization:</a:t>
            </a:r>
            <a:r>
              <a:rPr kumimoji="0" lang="en-US" altLang="en-US" sz="1800" b="0" i="0" u="none" strike="noStrike" cap="none" normalizeH="0" baseline="0" dirty="0">
                <a:ln>
                  <a:noFill/>
                </a:ln>
                <a:solidFill>
                  <a:schemeClr val="tx1"/>
                </a:solidFill>
                <a:effectLst/>
                <a:latin typeface="Arial" panose="020B0604020202020204" pitchFamily="34" charset="0"/>
              </a:rPr>
              <a:t> Pole-zero maps generated for each transfer function to visually assess system dynamics and potential resonances.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Stability Indicators:</a:t>
            </a:r>
            <a:r>
              <a:rPr kumimoji="0" lang="en-US" altLang="en-US" sz="1800" b="0" i="0" u="none" strike="noStrike" cap="none" normalizeH="0" baseline="0" dirty="0">
                <a:ln>
                  <a:noFill/>
                </a:ln>
                <a:solidFill>
                  <a:schemeClr val="tx1"/>
                </a:solidFill>
                <a:effectLst/>
                <a:latin typeface="Arial" panose="020B0604020202020204" pitchFamily="34" charset="0"/>
              </a:rPr>
              <a:t> Poles of the system analyzed for stability; critical for ensuring controlled system response.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Stability Evaluation: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System Stability:</a:t>
            </a:r>
            <a:r>
              <a:rPr kumimoji="0" lang="en-US" altLang="en-US" sz="1800" b="0" i="0" u="none" strike="noStrike" cap="none" normalizeH="0" baseline="0" dirty="0">
                <a:ln>
                  <a:noFill/>
                </a:ln>
                <a:solidFill>
                  <a:schemeClr val="tx1"/>
                </a:solidFill>
                <a:effectLst/>
                <a:latin typeface="Arial" panose="020B0604020202020204" pitchFamily="34" charset="0"/>
              </a:rPr>
              <a:t> Each system output (load, cart, and cable angle) checked for asymptotic stability by examining the location of system poles.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Stability Criteria:</a:t>
            </a:r>
            <a:r>
              <a:rPr kumimoji="0" lang="en-US" altLang="en-US" sz="1800" b="0" i="0" u="none" strike="noStrike" cap="none" normalizeH="0" baseline="0" dirty="0">
                <a:ln>
                  <a:noFill/>
                </a:ln>
                <a:solidFill>
                  <a:schemeClr val="tx1"/>
                </a:solidFill>
                <a:effectLst/>
                <a:latin typeface="Arial" panose="020B0604020202020204" pitchFamily="34" charset="0"/>
              </a:rPr>
              <a:t> Confirms whether all poles have negative real parts, which is necessary for ensuring the system's stability under operational conditions.</a:t>
            </a:r>
          </a:p>
          <a:p>
            <a:endParaRPr lang="en-US" dirty="0"/>
          </a:p>
        </p:txBody>
      </p:sp>
    </p:spTree>
    <p:extLst>
      <p:ext uri="{BB962C8B-B14F-4D97-AF65-F5344CB8AC3E}">
        <p14:creationId xmlns:p14="http://schemas.microsoft.com/office/powerpoint/2010/main" val="3105915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Description automatically generated">
            <a:extLst>
              <a:ext uri="{FF2B5EF4-FFF2-40B4-BE49-F238E27FC236}">
                <a16:creationId xmlns:a16="http://schemas.microsoft.com/office/drawing/2014/main" id="{9FBFF34A-601C-EB3B-137C-B1FE6B043BF3}"/>
              </a:ext>
            </a:extLst>
          </p:cNvPr>
          <p:cNvPicPr>
            <a:picLocks noChangeAspect="1"/>
          </p:cNvPicPr>
          <p:nvPr/>
        </p:nvPicPr>
        <p:blipFill>
          <a:blip r:embed="rId2"/>
          <a:stretch>
            <a:fillRect/>
          </a:stretch>
        </p:blipFill>
        <p:spPr>
          <a:xfrm>
            <a:off x="474652" y="753765"/>
            <a:ext cx="3947160" cy="4535990"/>
          </a:xfrm>
          <a:prstGeom prst="rect">
            <a:avLst/>
          </a:prstGeom>
        </p:spPr>
      </p:pic>
      <p:pic>
        <p:nvPicPr>
          <p:cNvPr id="3" name="Picture 2" descr="A screenshot of a computer program&#10;&#10;Description automatically generated">
            <a:extLst>
              <a:ext uri="{FF2B5EF4-FFF2-40B4-BE49-F238E27FC236}">
                <a16:creationId xmlns:a16="http://schemas.microsoft.com/office/drawing/2014/main" id="{CA6FD2B2-77D9-C357-07CA-A792A8AF880A}"/>
              </a:ext>
            </a:extLst>
          </p:cNvPr>
          <p:cNvPicPr>
            <a:picLocks noChangeAspect="1"/>
          </p:cNvPicPr>
          <p:nvPr/>
        </p:nvPicPr>
        <p:blipFill>
          <a:blip r:embed="rId3"/>
          <a:stretch>
            <a:fillRect/>
          </a:stretch>
        </p:blipFill>
        <p:spPr>
          <a:xfrm>
            <a:off x="4860577" y="753764"/>
            <a:ext cx="3624662" cy="5305027"/>
          </a:xfrm>
          <a:prstGeom prst="rect">
            <a:avLst/>
          </a:prstGeom>
        </p:spPr>
      </p:pic>
    </p:spTree>
    <p:extLst>
      <p:ext uri="{BB962C8B-B14F-4D97-AF65-F5344CB8AC3E}">
        <p14:creationId xmlns:p14="http://schemas.microsoft.com/office/powerpoint/2010/main" val="2441249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a graph&#10;&#10;Description automatically generated">
            <a:extLst>
              <a:ext uri="{FF2B5EF4-FFF2-40B4-BE49-F238E27FC236}">
                <a16:creationId xmlns:a16="http://schemas.microsoft.com/office/drawing/2014/main" id="{1C60A374-7DA3-43FA-D391-846CD7CFBD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798" y="595466"/>
            <a:ext cx="3678010" cy="2786831"/>
          </a:xfrm>
          <a:prstGeom prst="rect">
            <a:avLst/>
          </a:prstGeom>
        </p:spPr>
      </p:pic>
      <p:pic>
        <p:nvPicPr>
          <p:cNvPr id="3" name="Picture 2" descr="A screenshot of a graph&#10;&#10;Description automatically generated">
            <a:extLst>
              <a:ext uri="{FF2B5EF4-FFF2-40B4-BE49-F238E27FC236}">
                <a16:creationId xmlns:a16="http://schemas.microsoft.com/office/drawing/2014/main" id="{29F8F9D1-05CE-27F0-0858-116E6B1F8F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4199" y="409915"/>
            <a:ext cx="4067636" cy="3065788"/>
          </a:xfrm>
          <a:prstGeom prst="rect">
            <a:avLst/>
          </a:prstGeom>
        </p:spPr>
      </p:pic>
      <p:pic>
        <p:nvPicPr>
          <p:cNvPr id="4" name="Picture 3" descr="A graph of a graph&#10;&#10;Description automatically generated">
            <a:extLst>
              <a:ext uri="{FF2B5EF4-FFF2-40B4-BE49-F238E27FC236}">
                <a16:creationId xmlns:a16="http://schemas.microsoft.com/office/drawing/2014/main" id="{2795F0B8-F8C2-8ADD-48B4-CFF3926410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11036" y="3475703"/>
            <a:ext cx="4028743" cy="2972382"/>
          </a:xfrm>
          <a:prstGeom prst="rect">
            <a:avLst/>
          </a:prstGeom>
        </p:spPr>
      </p:pic>
    </p:spTree>
    <p:extLst>
      <p:ext uri="{BB962C8B-B14F-4D97-AF65-F5344CB8AC3E}">
        <p14:creationId xmlns:p14="http://schemas.microsoft.com/office/powerpoint/2010/main" val="36238939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program&#10;&#10;Description automatically generated">
            <a:extLst>
              <a:ext uri="{FF2B5EF4-FFF2-40B4-BE49-F238E27FC236}">
                <a16:creationId xmlns:a16="http://schemas.microsoft.com/office/drawing/2014/main" id="{99157850-AE6A-A3F0-F899-8E9766F50CBC}"/>
              </a:ext>
            </a:extLst>
          </p:cNvPr>
          <p:cNvPicPr>
            <a:picLocks noChangeAspect="1"/>
          </p:cNvPicPr>
          <p:nvPr/>
        </p:nvPicPr>
        <p:blipFill>
          <a:blip r:embed="rId2"/>
          <a:stretch>
            <a:fillRect/>
          </a:stretch>
        </p:blipFill>
        <p:spPr>
          <a:xfrm>
            <a:off x="2104104" y="761263"/>
            <a:ext cx="5043948" cy="4922520"/>
          </a:xfrm>
          <a:prstGeom prst="rect">
            <a:avLst/>
          </a:prstGeom>
        </p:spPr>
      </p:pic>
    </p:spTree>
    <p:extLst>
      <p:ext uri="{BB962C8B-B14F-4D97-AF65-F5344CB8AC3E}">
        <p14:creationId xmlns:p14="http://schemas.microsoft.com/office/powerpoint/2010/main" val="20000024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80060" y="329184"/>
            <a:ext cx="5170932" cy="1783080"/>
          </a:xfrm>
        </p:spPr>
        <p:txBody>
          <a:bodyPr anchor="b">
            <a:normAutofit/>
          </a:bodyPr>
          <a:lstStyle/>
          <a:p>
            <a:r>
              <a:rPr lang="en-US" sz="4700"/>
              <a:t>Controller Design</a:t>
            </a:r>
          </a:p>
        </p:txBody>
      </p:sp>
      <p:sp>
        <p:nvSpPr>
          <p:cNvPr id="3" name="Content Placeholder 2"/>
          <p:cNvSpPr>
            <a:spLocks noGrp="1"/>
          </p:cNvSpPr>
          <p:nvPr>
            <p:ph idx="1"/>
          </p:nvPr>
        </p:nvSpPr>
        <p:spPr>
          <a:xfrm>
            <a:off x="182986" y="2706624"/>
            <a:ext cx="5170932" cy="3483864"/>
          </a:xfrm>
        </p:spPr>
        <p:txBody>
          <a:bodyPr>
            <a:normAutofit/>
          </a:bodyPr>
          <a:lstStyle/>
          <a:p>
            <a:r>
              <a:rPr lang="en-US" sz="1900" dirty="0">
                <a:latin typeface="Arial" panose="020B0604020202020204" pitchFamily="34" charset="0"/>
                <a:cs typeface="Arial" panose="020B0604020202020204" pitchFamily="34" charset="0"/>
              </a:rPr>
              <a:t>Implementing a series proportional controller to the linear model of the bridge crane system to find whether the system becomes stable or not.</a:t>
            </a:r>
          </a:p>
          <a:p>
            <a:r>
              <a:rPr lang="en-US" sz="1900" dirty="0">
                <a:latin typeface="Arial" panose="020B0604020202020204" pitchFamily="34" charset="0"/>
                <a:cs typeface="Arial" panose="020B0604020202020204" pitchFamily="34" charset="0"/>
              </a:rPr>
              <a:t>Assuming </a:t>
            </a:r>
            <a:r>
              <a:rPr lang="en-US" sz="1900" dirty="0" err="1">
                <a:effectLst/>
                <a:highlight>
                  <a:srgbClr val="D3D3D3"/>
                </a:highlight>
                <a:latin typeface="Consolas" panose="020B0609020204030204" pitchFamily="49" charset="0"/>
                <a:ea typeface="Aptos" panose="020B0004020202020204" pitchFamily="34" charset="0"/>
                <a:cs typeface="Gautami" panose="020B0502040204020203" pitchFamily="34" charset="0"/>
              </a:rPr>
              <a:t>Kp_values</a:t>
            </a:r>
            <a:r>
              <a:rPr lang="en-US" sz="1900" dirty="0">
                <a:effectLst/>
                <a:highlight>
                  <a:srgbClr val="D3D3D3"/>
                </a:highlight>
                <a:latin typeface="Consolas" panose="020B0609020204030204" pitchFamily="49" charset="0"/>
                <a:ea typeface="Aptos" panose="020B0004020202020204" pitchFamily="34" charset="0"/>
                <a:cs typeface="Gautami" panose="020B0502040204020203" pitchFamily="34" charset="0"/>
              </a:rPr>
              <a:t> = (-1000, 1000, 500); </a:t>
            </a:r>
            <a:endParaRPr lang="en-US" sz="1900" dirty="0">
              <a:latin typeface="Arial" panose="020B0604020202020204" pitchFamily="34" charset="0"/>
              <a:cs typeface="Arial" panose="020B0604020202020204" pitchFamily="34" charset="0"/>
            </a:endParaRPr>
          </a:p>
        </p:txBody>
      </p:sp>
      <p:pic>
        <p:nvPicPr>
          <p:cNvPr id="5" name="Picture 4" descr="A screen shot of a graph&#10;&#10;Description automatically generated">
            <a:extLst>
              <a:ext uri="{FF2B5EF4-FFF2-40B4-BE49-F238E27FC236}">
                <a16:creationId xmlns:a16="http://schemas.microsoft.com/office/drawing/2014/main" id="{6A907867-9FD6-C1C3-A96C-7CC49D46E1BC}"/>
              </a:ext>
            </a:extLst>
          </p:cNvPr>
          <p:cNvPicPr>
            <a:picLocks noChangeAspect="1"/>
          </p:cNvPicPr>
          <p:nvPr/>
        </p:nvPicPr>
        <p:blipFill>
          <a:blip r:embed="rId2"/>
          <a:stretch>
            <a:fillRect/>
          </a:stretch>
        </p:blipFill>
        <p:spPr>
          <a:xfrm>
            <a:off x="5367447" y="3525330"/>
            <a:ext cx="3776553" cy="2162075"/>
          </a:xfrm>
          <a:prstGeom prst="rect">
            <a:avLst/>
          </a:prstGeom>
        </p:spPr>
      </p:pic>
      <p:pic>
        <p:nvPicPr>
          <p:cNvPr id="4" name="Picture 3" descr="A screenshot of a computer program&#10;&#10;Description automatically generated">
            <a:extLst>
              <a:ext uri="{FF2B5EF4-FFF2-40B4-BE49-F238E27FC236}">
                <a16:creationId xmlns:a16="http://schemas.microsoft.com/office/drawing/2014/main" id="{3A6FEED1-914A-6A15-1B04-12C88A93CBC1}"/>
              </a:ext>
            </a:extLst>
          </p:cNvPr>
          <p:cNvPicPr>
            <a:picLocks noChangeAspect="1"/>
          </p:cNvPicPr>
          <p:nvPr/>
        </p:nvPicPr>
        <p:blipFill>
          <a:blip r:embed="rId3"/>
          <a:stretch>
            <a:fillRect/>
          </a:stretch>
        </p:blipFill>
        <p:spPr>
          <a:xfrm>
            <a:off x="5911596" y="1170595"/>
            <a:ext cx="2996946" cy="13764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A380A-E9B6-8382-A082-1E1AC5E30C7D}"/>
              </a:ext>
            </a:extLst>
          </p:cNvPr>
          <p:cNvSpPr>
            <a:spLocks noGrp="1"/>
          </p:cNvSpPr>
          <p:nvPr>
            <p:ph type="ctrTitle"/>
          </p:nvPr>
        </p:nvSpPr>
        <p:spPr>
          <a:xfrm>
            <a:off x="597309" y="1"/>
            <a:ext cx="7772400" cy="766916"/>
          </a:xfrm>
        </p:spPr>
        <p:txBody>
          <a:bodyPr/>
          <a:lstStyle/>
          <a:p>
            <a:r>
              <a:rPr lang="en-IN" dirty="0"/>
              <a:t>Simulink Models</a:t>
            </a:r>
            <a:endParaRPr lang="en-US" dirty="0"/>
          </a:p>
        </p:txBody>
      </p:sp>
      <p:sp>
        <p:nvSpPr>
          <p:cNvPr id="3" name="Subtitle 2">
            <a:extLst>
              <a:ext uri="{FF2B5EF4-FFF2-40B4-BE49-F238E27FC236}">
                <a16:creationId xmlns:a16="http://schemas.microsoft.com/office/drawing/2014/main" id="{8915AC3A-7506-D898-026F-2B9C5AFC5BB9}"/>
              </a:ext>
            </a:extLst>
          </p:cNvPr>
          <p:cNvSpPr>
            <a:spLocks noGrp="1"/>
          </p:cNvSpPr>
          <p:nvPr>
            <p:ph type="subTitle" idx="1"/>
          </p:nvPr>
        </p:nvSpPr>
        <p:spPr>
          <a:xfrm>
            <a:off x="430161" y="1354395"/>
            <a:ext cx="8283678" cy="3325760"/>
          </a:xfrm>
        </p:spPr>
        <p:txBody>
          <a:bodyPr>
            <a:normAutofit/>
          </a:bodyPr>
          <a:lstStyle/>
          <a:p>
            <a:pPr marL="285750" indent="-285750" algn="l">
              <a:buFont typeface="Arial" panose="020B0604020202020204" pitchFamily="34" charset="0"/>
              <a:buChar char="•"/>
            </a:pPr>
            <a:r>
              <a:rPr lang="en-IN" sz="1800" dirty="0">
                <a:solidFill>
                  <a:schemeClr val="tx1"/>
                </a:solidFill>
                <a:latin typeface="Arial" panose="020B0604020202020204" pitchFamily="34" charset="0"/>
                <a:cs typeface="Arial" panose="020B0604020202020204" pitchFamily="34" charset="0"/>
              </a:rPr>
              <a:t>Implementing Linear and Non linear models of bridge crane system using Simulink with initial conditions as given below.</a:t>
            </a:r>
          </a:p>
          <a:p>
            <a:pPr algn="l"/>
            <a:endParaRPr lang="en-IN" sz="1800" dirty="0">
              <a:solidFill>
                <a:schemeClr val="tx1"/>
              </a:solidFill>
              <a:latin typeface="Arial" panose="020B0604020202020204" pitchFamily="34" charset="0"/>
              <a:cs typeface="Arial" panose="020B0604020202020204" pitchFamily="34" charset="0"/>
            </a:endParaRPr>
          </a:p>
          <a:p>
            <a:pPr marL="0" marR="0" algn="l">
              <a:lnSpc>
                <a:spcPct val="115000"/>
              </a:lnSpc>
              <a:spcAft>
                <a:spcPts val="800"/>
              </a:spcAft>
            </a:pPr>
            <a:r>
              <a:rPr lang="en-US" sz="18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Initial Conditions: x0 = [(W + 1) *m; 0; 0.035 * (1 + V); 0]</a:t>
            </a:r>
          </a:p>
          <a:p>
            <a:pPr marL="0" marR="0" algn="l">
              <a:lnSpc>
                <a:spcPct val="115000"/>
              </a:lnSpc>
              <a:spcAft>
                <a:spcPts val="800"/>
              </a:spcAft>
            </a:pPr>
            <a:r>
              <a:rPr lang="en-US" sz="18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Constants values are fixed.</a:t>
            </a:r>
          </a:p>
          <a:p>
            <a:pPr marL="0" marR="0" algn="l">
              <a:lnSpc>
                <a:spcPct val="115000"/>
              </a:lnSpc>
              <a:spcAft>
                <a:spcPts val="800"/>
              </a:spcAft>
            </a:pPr>
            <a:r>
              <a:rPr lang="en-US" sz="18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x0 = [6300;0;0.21;0]</a:t>
            </a:r>
          </a:p>
          <a:p>
            <a:pPr marL="285750" indent="-285750" algn="l">
              <a:buFont typeface="Arial" panose="020B0604020202020204" pitchFamily="34" charset="0"/>
              <a:buChar char="•"/>
            </a:pPr>
            <a:endParaRPr lang="en-US" sz="1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1487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circuit&#10;&#10;Description automatically generated">
            <a:extLst>
              <a:ext uri="{FF2B5EF4-FFF2-40B4-BE49-F238E27FC236}">
                <a16:creationId xmlns:a16="http://schemas.microsoft.com/office/drawing/2014/main" id="{81C72498-3B5D-BFD5-EB77-DC958067BC54}"/>
              </a:ext>
            </a:extLst>
          </p:cNvPr>
          <p:cNvPicPr>
            <a:picLocks noChangeAspect="1"/>
          </p:cNvPicPr>
          <p:nvPr/>
        </p:nvPicPr>
        <p:blipFill>
          <a:blip r:embed="rId2"/>
          <a:stretch>
            <a:fillRect/>
          </a:stretch>
        </p:blipFill>
        <p:spPr>
          <a:xfrm>
            <a:off x="1087412" y="952888"/>
            <a:ext cx="6328568" cy="2300191"/>
          </a:xfrm>
          <a:prstGeom prst="rect">
            <a:avLst/>
          </a:prstGeom>
        </p:spPr>
      </p:pic>
      <p:pic>
        <p:nvPicPr>
          <p:cNvPr id="3" name="Picture 2" descr="A diagram of a block diagram&#10;&#10;Description automatically generated">
            <a:extLst>
              <a:ext uri="{FF2B5EF4-FFF2-40B4-BE49-F238E27FC236}">
                <a16:creationId xmlns:a16="http://schemas.microsoft.com/office/drawing/2014/main" id="{2ADA3C9E-3B41-685B-40C3-132987A486DD}"/>
              </a:ext>
            </a:extLst>
          </p:cNvPr>
          <p:cNvPicPr>
            <a:picLocks noChangeAspect="1"/>
          </p:cNvPicPr>
          <p:nvPr/>
        </p:nvPicPr>
        <p:blipFill>
          <a:blip r:embed="rId3"/>
          <a:stretch>
            <a:fillRect/>
          </a:stretch>
        </p:blipFill>
        <p:spPr>
          <a:xfrm>
            <a:off x="634046" y="4306010"/>
            <a:ext cx="3151373" cy="1139021"/>
          </a:xfrm>
          <a:prstGeom prst="rect">
            <a:avLst/>
          </a:prstGeom>
        </p:spPr>
      </p:pic>
      <p:pic>
        <p:nvPicPr>
          <p:cNvPr id="4" name="Picture 3" descr="A diagram of a block diagram&#10;&#10;Description automatically generated">
            <a:extLst>
              <a:ext uri="{FF2B5EF4-FFF2-40B4-BE49-F238E27FC236}">
                <a16:creationId xmlns:a16="http://schemas.microsoft.com/office/drawing/2014/main" id="{49D8D0AA-4E4C-8978-9AD1-874622313DFD}"/>
              </a:ext>
            </a:extLst>
          </p:cNvPr>
          <p:cNvPicPr>
            <a:picLocks noChangeAspect="1"/>
          </p:cNvPicPr>
          <p:nvPr/>
        </p:nvPicPr>
        <p:blipFill>
          <a:blip r:embed="rId4"/>
          <a:stretch>
            <a:fillRect/>
          </a:stretch>
        </p:blipFill>
        <p:spPr>
          <a:xfrm>
            <a:off x="4572000" y="4152259"/>
            <a:ext cx="3937954" cy="1446521"/>
          </a:xfrm>
          <a:prstGeom prst="rect">
            <a:avLst/>
          </a:prstGeom>
        </p:spPr>
      </p:pic>
      <p:sp>
        <p:nvSpPr>
          <p:cNvPr id="5" name="TextBox 4">
            <a:extLst>
              <a:ext uri="{FF2B5EF4-FFF2-40B4-BE49-F238E27FC236}">
                <a16:creationId xmlns:a16="http://schemas.microsoft.com/office/drawing/2014/main" id="{032EC066-942F-90A7-2BB9-E47CAE6EA276}"/>
              </a:ext>
            </a:extLst>
          </p:cNvPr>
          <p:cNvSpPr txBox="1"/>
          <p:nvPr/>
        </p:nvSpPr>
        <p:spPr>
          <a:xfrm>
            <a:off x="2113935" y="521110"/>
            <a:ext cx="2939846" cy="369332"/>
          </a:xfrm>
          <a:prstGeom prst="rect">
            <a:avLst/>
          </a:prstGeom>
          <a:noFill/>
        </p:spPr>
        <p:txBody>
          <a:bodyPr wrap="square" rtlCol="0">
            <a:spAutoFit/>
          </a:bodyPr>
          <a:lstStyle/>
          <a:p>
            <a:r>
              <a:rPr lang="en-IN" dirty="0"/>
              <a:t>Linear Model</a:t>
            </a:r>
            <a:endParaRPr lang="en-US" dirty="0"/>
          </a:p>
        </p:txBody>
      </p:sp>
      <p:sp>
        <p:nvSpPr>
          <p:cNvPr id="6" name="TextBox 5">
            <a:extLst>
              <a:ext uri="{FF2B5EF4-FFF2-40B4-BE49-F238E27FC236}">
                <a16:creationId xmlns:a16="http://schemas.microsoft.com/office/drawing/2014/main" id="{4C70D678-2E33-55F6-FE1E-67B9F4F349E5}"/>
              </a:ext>
            </a:extLst>
          </p:cNvPr>
          <p:cNvSpPr txBox="1"/>
          <p:nvPr/>
        </p:nvSpPr>
        <p:spPr>
          <a:xfrm>
            <a:off x="3179979" y="3604922"/>
            <a:ext cx="2939846" cy="369332"/>
          </a:xfrm>
          <a:prstGeom prst="rect">
            <a:avLst/>
          </a:prstGeom>
          <a:noFill/>
        </p:spPr>
        <p:txBody>
          <a:bodyPr wrap="square" rtlCol="0">
            <a:spAutoFit/>
          </a:bodyPr>
          <a:lstStyle/>
          <a:p>
            <a:r>
              <a:rPr lang="en-IN" dirty="0"/>
              <a:t>Subsystems</a:t>
            </a:r>
            <a:endParaRPr lang="en-US" dirty="0"/>
          </a:p>
        </p:txBody>
      </p:sp>
    </p:spTree>
    <p:extLst>
      <p:ext uri="{BB962C8B-B14F-4D97-AF65-F5344CB8AC3E}">
        <p14:creationId xmlns:p14="http://schemas.microsoft.com/office/powerpoint/2010/main" val="3887271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3023F2-6AB7-8C95-26AC-6F4954D786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708" y="1686355"/>
            <a:ext cx="3718560" cy="2674620"/>
          </a:xfrm>
          <a:prstGeom prst="rect">
            <a:avLst/>
          </a:prstGeom>
        </p:spPr>
      </p:pic>
      <p:pic>
        <p:nvPicPr>
          <p:cNvPr id="3" name="Picture 2" descr="A graph with a line going up&#10;&#10;Description automatically generated">
            <a:extLst>
              <a:ext uri="{FF2B5EF4-FFF2-40B4-BE49-F238E27FC236}">
                <a16:creationId xmlns:a16="http://schemas.microsoft.com/office/drawing/2014/main" id="{6568C7CE-DA2A-63C2-D9CF-CE654FE256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0088" y="1671115"/>
            <a:ext cx="3811905" cy="2674620"/>
          </a:xfrm>
          <a:prstGeom prst="rect">
            <a:avLst/>
          </a:prstGeom>
        </p:spPr>
      </p:pic>
    </p:spTree>
    <p:extLst>
      <p:ext uri="{BB962C8B-B14F-4D97-AF65-F5344CB8AC3E}">
        <p14:creationId xmlns:p14="http://schemas.microsoft.com/office/powerpoint/2010/main" val="3718518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a computer program&#10;&#10;Description automatically generated">
            <a:extLst>
              <a:ext uri="{FF2B5EF4-FFF2-40B4-BE49-F238E27FC236}">
                <a16:creationId xmlns:a16="http://schemas.microsoft.com/office/drawing/2014/main" id="{DA60CF33-0BB5-8F76-F47D-B7A2CE81E575}"/>
              </a:ext>
            </a:extLst>
          </p:cNvPr>
          <p:cNvPicPr>
            <a:picLocks noChangeAspect="1"/>
          </p:cNvPicPr>
          <p:nvPr/>
        </p:nvPicPr>
        <p:blipFill>
          <a:blip r:embed="rId2"/>
          <a:stretch>
            <a:fillRect/>
          </a:stretch>
        </p:blipFill>
        <p:spPr>
          <a:xfrm>
            <a:off x="468997" y="953432"/>
            <a:ext cx="7732676" cy="3480917"/>
          </a:xfrm>
          <a:prstGeom prst="rect">
            <a:avLst/>
          </a:prstGeom>
        </p:spPr>
      </p:pic>
    </p:spTree>
    <p:extLst>
      <p:ext uri="{BB962C8B-B14F-4D97-AF65-F5344CB8AC3E}">
        <p14:creationId xmlns:p14="http://schemas.microsoft.com/office/powerpoint/2010/main" val="42261093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diagram of a block diagram&#10;&#10;Description automatically generated">
            <a:extLst>
              <a:ext uri="{FF2B5EF4-FFF2-40B4-BE49-F238E27FC236}">
                <a16:creationId xmlns:a16="http://schemas.microsoft.com/office/drawing/2014/main" id="{57C58009-CC89-C536-B9FC-FD0946378CA1}"/>
              </a:ext>
            </a:extLst>
          </p:cNvPr>
          <p:cNvPicPr>
            <a:picLocks noChangeAspect="1"/>
          </p:cNvPicPr>
          <p:nvPr/>
        </p:nvPicPr>
        <p:blipFill>
          <a:blip r:embed="rId2"/>
          <a:stretch>
            <a:fillRect/>
          </a:stretch>
        </p:blipFill>
        <p:spPr>
          <a:xfrm>
            <a:off x="623856" y="2642646"/>
            <a:ext cx="3694170" cy="1486902"/>
          </a:xfrm>
          <a:prstGeom prst="rect">
            <a:avLst/>
          </a:prstGeom>
        </p:spPr>
      </p:pic>
      <p:pic>
        <p:nvPicPr>
          <p:cNvPr id="3" name="Picture 2" descr="A diagram of a circuit&#10;&#10;Description automatically generated">
            <a:extLst>
              <a:ext uri="{FF2B5EF4-FFF2-40B4-BE49-F238E27FC236}">
                <a16:creationId xmlns:a16="http://schemas.microsoft.com/office/drawing/2014/main" id="{0896C443-1C71-C739-B58A-2657B5B82FBB}"/>
              </a:ext>
            </a:extLst>
          </p:cNvPr>
          <p:cNvPicPr>
            <a:picLocks noChangeAspect="1"/>
          </p:cNvPicPr>
          <p:nvPr/>
        </p:nvPicPr>
        <p:blipFill>
          <a:blip r:embed="rId3"/>
          <a:stretch>
            <a:fillRect/>
          </a:stretch>
        </p:blipFill>
        <p:spPr>
          <a:xfrm>
            <a:off x="4825974" y="2821284"/>
            <a:ext cx="3483396" cy="1036310"/>
          </a:xfrm>
          <a:prstGeom prst="rect">
            <a:avLst/>
          </a:prstGeom>
        </p:spPr>
      </p:pic>
    </p:spTree>
    <p:extLst>
      <p:ext uri="{BB962C8B-B14F-4D97-AF65-F5344CB8AC3E}">
        <p14:creationId xmlns:p14="http://schemas.microsoft.com/office/powerpoint/2010/main" val="32648215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graph of a graph with colored lines&#10;&#10;Description automatically generated">
            <a:extLst>
              <a:ext uri="{FF2B5EF4-FFF2-40B4-BE49-F238E27FC236}">
                <a16:creationId xmlns:a16="http://schemas.microsoft.com/office/drawing/2014/main" id="{519A5E8B-D7C3-4C4D-B5BE-9F0BB78F47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270" y="2130419"/>
            <a:ext cx="3782402" cy="2638225"/>
          </a:xfrm>
          <a:prstGeom prst="rect">
            <a:avLst/>
          </a:prstGeom>
        </p:spPr>
      </p:pic>
      <p:pic>
        <p:nvPicPr>
          <p:cNvPr id="2" name="Picture 1" descr="A graph with colored lines&#10;&#10;Description automatically generated">
            <a:extLst>
              <a:ext uri="{FF2B5EF4-FFF2-40B4-BE49-F238E27FC236}">
                <a16:creationId xmlns:a16="http://schemas.microsoft.com/office/drawing/2014/main" id="{D0645155-06BA-482F-1D2D-0C6F81C533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2596" y="2131780"/>
            <a:ext cx="3805420" cy="2635253"/>
          </a:xfrm>
          <a:prstGeom prst="rect">
            <a:avLst/>
          </a:prstGeom>
        </p:spPr>
      </p:pic>
    </p:spTree>
    <p:extLst>
      <p:ext uri="{BB962C8B-B14F-4D97-AF65-F5344CB8AC3E}">
        <p14:creationId xmlns:p14="http://schemas.microsoft.com/office/powerpoint/2010/main" val="39216049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F57DD-343F-0EB0-7377-27760B663BC4}"/>
              </a:ext>
            </a:extLst>
          </p:cNvPr>
          <p:cNvSpPr>
            <a:spLocks noGrp="1"/>
          </p:cNvSpPr>
          <p:nvPr>
            <p:ph type="ctrTitle"/>
          </p:nvPr>
        </p:nvSpPr>
        <p:spPr>
          <a:xfrm>
            <a:off x="-1" y="154142"/>
            <a:ext cx="9026013" cy="1065057"/>
          </a:xfrm>
        </p:spPr>
        <p:txBody>
          <a:bodyPr>
            <a:normAutofit/>
          </a:bodyPr>
          <a:lstStyle/>
          <a:p>
            <a:r>
              <a:rPr lang="en-US" sz="3600" dirty="0"/>
              <a:t>Optimal Controller Design and Evaluation</a:t>
            </a:r>
            <a:endParaRPr lang="en-US" sz="36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EA4D8AA-B9F5-6DF2-EF1A-0A67F49193DA}"/>
              </a:ext>
            </a:extLst>
          </p:cNvPr>
          <p:cNvSpPr>
            <a:spLocks noGrp="1"/>
          </p:cNvSpPr>
          <p:nvPr>
            <p:ph type="subTitle" idx="1"/>
          </p:nvPr>
        </p:nvSpPr>
        <p:spPr>
          <a:xfrm>
            <a:off x="0" y="1231489"/>
            <a:ext cx="9144000" cy="4038601"/>
          </a:xfrm>
        </p:spPr>
        <p:txBody>
          <a:bodyPr>
            <a:normAutofit fontScale="70000" lnSpcReduction="20000"/>
          </a:bodyPr>
          <a:lstStyle/>
          <a:p>
            <a:pPr algn="l">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Purpose: Develop a control strategy that minimizes a predefined cost function by tuning a state feedback controller K.</a:t>
            </a:r>
          </a:p>
          <a:p>
            <a:pPr algn="l">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Focus: Evaluate different configurations for the penalty matrix Q and scalar p on the control effort and system stability.</a:t>
            </a:r>
          </a:p>
          <a:p>
            <a:pPr algn="l">
              <a:buFont typeface="Arial" panose="020B0604020202020204" pitchFamily="34" charset="0"/>
              <a:buChar char="•"/>
            </a:pPr>
            <a:endParaRPr lang="en-US" sz="26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endParaRPr lang="en-US" sz="26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2600" b="1" dirty="0">
                <a:solidFill>
                  <a:schemeClr val="tx1"/>
                </a:solidFill>
                <a:latin typeface="Arial" panose="020B0604020202020204" pitchFamily="34" charset="0"/>
                <a:cs typeface="Arial" panose="020B0604020202020204" pitchFamily="34" charset="0"/>
              </a:rPr>
              <a:t>a. Optimal Controllers Computation:</a:t>
            </a:r>
            <a:endParaRPr lang="en-US" sz="26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2600" b="1" dirty="0">
                <a:solidFill>
                  <a:schemeClr val="tx1"/>
                </a:solidFill>
                <a:latin typeface="Arial" panose="020B0604020202020204" pitchFamily="34" charset="0"/>
                <a:cs typeface="Arial" panose="020B0604020202020204" pitchFamily="34" charset="0"/>
              </a:rPr>
              <a:t>Objective:</a:t>
            </a:r>
            <a:r>
              <a:rPr lang="en-US" sz="2600" dirty="0">
                <a:solidFill>
                  <a:schemeClr val="tx1"/>
                </a:solidFill>
                <a:latin typeface="Arial" panose="020B0604020202020204" pitchFamily="34" charset="0"/>
                <a:cs typeface="Arial" panose="020B0604020202020204" pitchFamily="34" charset="0"/>
              </a:rPr>
              <a:t> Calculate six optimal controllers using different combinations of Q and p.</a:t>
            </a:r>
          </a:p>
          <a:p>
            <a:pPr algn="l">
              <a:buFont typeface="Arial" panose="020B0604020202020204" pitchFamily="34" charset="0"/>
              <a:buChar char="•"/>
            </a:pPr>
            <a:r>
              <a:rPr lang="en-US" sz="2600" b="1" dirty="0">
                <a:solidFill>
                  <a:schemeClr val="tx1"/>
                </a:solidFill>
                <a:latin typeface="Arial" panose="020B0604020202020204" pitchFamily="34" charset="0"/>
                <a:cs typeface="Arial" panose="020B0604020202020204" pitchFamily="34" charset="0"/>
              </a:rPr>
              <a:t>Method:</a:t>
            </a:r>
            <a:r>
              <a:rPr lang="en-US" sz="2600" dirty="0">
                <a:solidFill>
                  <a:schemeClr val="tx1"/>
                </a:solidFill>
                <a:latin typeface="Arial" panose="020B0604020202020204" pitchFamily="34" charset="0"/>
                <a:cs typeface="Arial" panose="020B0604020202020204" pitchFamily="34" charset="0"/>
              </a:rPr>
              <a:t> Utilize Linear Quadratic Regulator (LQR) theory to design controllers.</a:t>
            </a:r>
          </a:p>
          <a:p>
            <a:pPr algn="l"/>
            <a:endParaRPr lang="en-US" sz="2600" b="1" dirty="0">
              <a:solidFill>
                <a:schemeClr val="tx1"/>
              </a:solidFill>
              <a:latin typeface="Arial" panose="020B0604020202020204" pitchFamily="34" charset="0"/>
              <a:cs typeface="Arial" panose="020B0604020202020204" pitchFamily="34" charset="0"/>
            </a:endParaRPr>
          </a:p>
          <a:p>
            <a:pPr algn="l"/>
            <a:r>
              <a:rPr lang="en-US" sz="2600" b="1" dirty="0">
                <a:solidFill>
                  <a:schemeClr val="tx1"/>
                </a:solidFill>
                <a:latin typeface="Arial" panose="020B0604020202020204" pitchFamily="34" charset="0"/>
                <a:cs typeface="Arial" panose="020B0604020202020204" pitchFamily="34" charset="0"/>
              </a:rPr>
              <a:t>Matrices:</a:t>
            </a:r>
            <a:endParaRPr lang="en-US" sz="2600" dirty="0">
              <a:solidFill>
                <a:schemeClr val="tx1"/>
              </a:solidFill>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Q matrices vary to emphasize different state variables.</a:t>
            </a:r>
          </a:p>
          <a:p>
            <a:pPr marL="742950" lvl="1" indent="-285750" algn="l">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p values: where H, S, O are derived from constant U.</a:t>
            </a:r>
          </a:p>
          <a:p>
            <a:pPr marL="742950" lvl="1" indent="-285750" algn="l">
              <a:buFont typeface="Arial" panose="020B0604020202020204" pitchFamily="34" charset="0"/>
              <a:buChar char="•"/>
            </a:pPr>
            <a:endParaRPr lang="en-US" sz="7200" dirty="0">
              <a:solidFill>
                <a:schemeClr val="tx1"/>
              </a:solidFill>
              <a:latin typeface="Arial" panose="020B0604020202020204" pitchFamily="34" charset="0"/>
              <a:cs typeface="Arial" panose="020B0604020202020204" pitchFamily="34" charset="0"/>
            </a:endParaRPr>
          </a:p>
          <a:p>
            <a:pPr algn="l"/>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039045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E5BA30E-D8A6-8ACC-132B-BA284B4E755F}"/>
              </a:ext>
            </a:extLst>
          </p:cNvPr>
          <p:cNvSpPr txBox="1"/>
          <p:nvPr/>
        </p:nvSpPr>
        <p:spPr>
          <a:xfrm>
            <a:off x="0" y="648929"/>
            <a:ext cx="9144000" cy="6463308"/>
          </a:xfrm>
          <a:prstGeom prst="rect">
            <a:avLst/>
          </a:prstGeom>
          <a:noFill/>
        </p:spPr>
        <p:txBody>
          <a:bodyPr wrap="square" rtlCol="0">
            <a:spAutoFit/>
          </a:bodyPr>
          <a:lstStyle/>
          <a:p>
            <a:pPr algn="l">
              <a:buFont typeface="Arial" panose="020B0604020202020204" pitchFamily="34" charset="0"/>
              <a:buChar char="•"/>
            </a:pPr>
            <a:r>
              <a:rPr lang="en-US" b="1" dirty="0">
                <a:solidFill>
                  <a:schemeClr val="tx1"/>
                </a:solidFill>
                <a:latin typeface="Arial" panose="020B0604020202020204" pitchFamily="34" charset="0"/>
                <a:cs typeface="Arial" panose="020B0604020202020204" pitchFamily="34" charset="0"/>
              </a:rPr>
              <a:t>Impact on Cost Function J:</a:t>
            </a:r>
            <a:endParaRPr lang="en-US" dirty="0">
              <a:solidFill>
                <a:schemeClr val="tx1"/>
              </a:solidFill>
              <a:latin typeface="Arial" panose="020B0604020202020204" pitchFamily="34" charset="0"/>
              <a:cs typeface="Arial" panose="020B0604020202020204" pitchFamily="34" charset="0"/>
            </a:endParaRPr>
          </a:p>
          <a:p>
            <a:pPr marL="742950" lvl="1" indent="-285750" algn="l">
              <a:buFont typeface="Arial" panose="020B0604020202020204" pitchFamily="34" charset="0"/>
              <a:buChar char="•"/>
            </a:pPr>
            <a:r>
              <a:rPr lang="en-US" dirty="0">
                <a:solidFill>
                  <a:schemeClr val="tx1"/>
                </a:solidFill>
                <a:latin typeface="Arial" panose="020B0604020202020204" pitchFamily="34" charset="0"/>
                <a:cs typeface="Arial" panose="020B0604020202020204" pitchFamily="34" charset="0"/>
              </a:rPr>
              <a:t>Analyze how different Q matrices affect the performance index, focusing on trade-offs between state error penalization and control effort.</a:t>
            </a:r>
          </a:p>
          <a:p>
            <a:pPr lvl="1" algn="l"/>
            <a:endParaRPr lang="en-US" dirty="0">
              <a:solidFill>
                <a:schemeClr val="tx1"/>
              </a:solidFill>
              <a:latin typeface="Arial" panose="020B0604020202020204" pitchFamily="34" charset="0"/>
              <a:cs typeface="Arial" panose="020B0604020202020204" pitchFamily="34" charset="0"/>
            </a:endParaRPr>
          </a:p>
          <a:p>
            <a:pPr algn="l"/>
            <a:r>
              <a:rPr lang="en-US" b="1" dirty="0">
                <a:solidFill>
                  <a:schemeClr val="tx1"/>
                </a:solidFill>
                <a:latin typeface="Arial" panose="020B0604020202020204" pitchFamily="34" charset="0"/>
                <a:cs typeface="Arial" panose="020B0604020202020204" pitchFamily="34" charset="0"/>
              </a:rPr>
              <a:t>b. Closed-loop System Analysis:</a:t>
            </a:r>
            <a:endParaRPr lang="en-US"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b="1" dirty="0">
                <a:solidFill>
                  <a:schemeClr val="tx1"/>
                </a:solidFill>
                <a:latin typeface="Arial" panose="020B0604020202020204" pitchFamily="34" charset="0"/>
                <a:cs typeface="Arial" panose="020B0604020202020204" pitchFamily="34" charset="0"/>
              </a:rPr>
              <a:t>Eigenvalue Computation:</a:t>
            </a:r>
            <a:r>
              <a:rPr lang="en-US" dirty="0">
                <a:solidFill>
                  <a:schemeClr val="tx1"/>
                </a:solidFill>
                <a:latin typeface="Arial" panose="020B0604020202020204" pitchFamily="34" charset="0"/>
                <a:cs typeface="Arial" panose="020B0604020202020204" pitchFamily="34" charset="0"/>
              </a:rPr>
              <a:t> Determine the closed-loop eigenvalues for each controller to assess system stability.</a:t>
            </a:r>
          </a:p>
          <a:p>
            <a:pPr algn="l">
              <a:buFont typeface="Arial" panose="020B0604020202020204" pitchFamily="34" charset="0"/>
              <a:buChar char="•"/>
            </a:pPr>
            <a:r>
              <a:rPr lang="en-US" b="1" dirty="0">
                <a:solidFill>
                  <a:schemeClr val="tx1"/>
                </a:solidFill>
                <a:latin typeface="Arial" panose="020B0604020202020204" pitchFamily="34" charset="0"/>
                <a:cs typeface="Arial" panose="020B0604020202020204" pitchFamily="34" charset="0"/>
              </a:rPr>
              <a:t>Root Locus Plot:</a:t>
            </a:r>
            <a:r>
              <a:rPr lang="en-US" dirty="0">
                <a:solidFill>
                  <a:schemeClr val="tx1"/>
                </a:solidFill>
                <a:latin typeface="Arial" panose="020B0604020202020204" pitchFamily="34" charset="0"/>
                <a:cs typeface="Arial" panose="020B0604020202020204" pitchFamily="34" charset="0"/>
              </a:rPr>
              <a:t> Visual representation of how the closed-loop pole locations vary with changes in p.</a:t>
            </a:r>
          </a:p>
          <a:p>
            <a:pPr algn="l"/>
            <a:endParaRPr lang="en-US" dirty="0">
              <a:solidFill>
                <a:schemeClr val="tx1"/>
              </a:solidFill>
              <a:latin typeface="Arial" panose="020B0604020202020204" pitchFamily="34" charset="0"/>
              <a:cs typeface="Arial" panose="020B0604020202020204" pitchFamily="34" charset="0"/>
            </a:endParaRPr>
          </a:p>
          <a:p>
            <a:pPr algn="l"/>
            <a:r>
              <a:rPr lang="en-US" b="1" dirty="0">
                <a:solidFill>
                  <a:schemeClr val="tx1"/>
                </a:solidFill>
                <a:latin typeface="Arial" panose="020B0604020202020204" pitchFamily="34" charset="0"/>
                <a:cs typeface="Arial" panose="020B0604020202020204" pitchFamily="34" charset="0"/>
              </a:rPr>
              <a:t>c. System Response to Optimal Controllers:</a:t>
            </a:r>
            <a:endParaRPr lang="en-US"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b="1" dirty="0">
                <a:solidFill>
                  <a:schemeClr val="tx1"/>
                </a:solidFill>
                <a:latin typeface="Arial" panose="020B0604020202020204" pitchFamily="34" charset="0"/>
                <a:cs typeface="Arial" panose="020B0604020202020204" pitchFamily="34" charset="0"/>
              </a:rPr>
              <a:t>Linear Model Implementation:</a:t>
            </a:r>
            <a:r>
              <a:rPr lang="en-US" dirty="0">
                <a:solidFill>
                  <a:schemeClr val="tx1"/>
                </a:solidFill>
                <a:latin typeface="Arial" panose="020B0604020202020204" pitchFamily="34" charset="0"/>
                <a:cs typeface="Arial" panose="020B0604020202020204" pitchFamily="34" charset="0"/>
              </a:rPr>
              <a:t> Simulate the closed-loop response of the linear model under initial conditions.</a:t>
            </a:r>
          </a:p>
          <a:p>
            <a:pPr algn="l">
              <a:buFont typeface="Arial" panose="020B0604020202020204" pitchFamily="34" charset="0"/>
              <a:buChar char="•"/>
            </a:pPr>
            <a:r>
              <a:rPr lang="en-US" b="1" dirty="0">
                <a:solidFill>
                  <a:schemeClr val="tx1"/>
                </a:solidFill>
                <a:latin typeface="Arial" panose="020B0604020202020204" pitchFamily="34" charset="0"/>
                <a:cs typeface="Arial" panose="020B0604020202020204" pitchFamily="34" charset="0"/>
              </a:rPr>
              <a:t>Control Effort Analysis:</a:t>
            </a:r>
            <a:r>
              <a:rPr lang="en-US" dirty="0">
                <a:solidFill>
                  <a:schemeClr val="tx1"/>
                </a:solidFill>
                <a:latin typeface="Arial" panose="020B0604020202020204" pitchFamily="34" charset="0"/>
                <a:cs typeface="Arial" panose="020B0604020202020204" pitchFamily="34" charset="0"/>
              </a:rPr>
              <a:t> Plot and compare the control efforts u for different controller configurations to evaluate efficiency and effectiveness.</a:t>
            </a:r>
          </a:p>
          <a:p>
            <a:pPr algn="l">
              <a:buFont typeface="Arial" panose="020B0604020202020204" pitchFamily="34" charset="0"/>
              <a:buChar char="•"/>
            </a:pPr>
            <a:endParaRPr lang="en-US" dirty="0">
              <a:solidFill>
                <a:schemeClr val="tx1"/>
              </a:solidFill>
              <a:latin typeface="Arial" panose="020B0604020202020204" pitchFamily="34" charset="0"/>
              <a:cs typeface="Arial" panose="020B0604020202020204" pitchFamily="34" charset="0"/>
            </a:endParaRPr>
          </a:p>
          <a:p>
            <a:pPr algn="l"/>
            <a:r>
              <a:rPr lang="en-US" b="1" dirty="0">
                <a:solidFill>
                  <a:schemeClr val="tx1"/>
                </a:solidFill>
                <a:latin typeface="Arial" panose="020B0604020202020204" pitchFamily="34" charset="0"/>
                <a:cs typeface="Arial" panose="020B0604020202020204" pitchFamily="34" charset="0"/>
              </a:rPr>
              <a:t>d. Nonlinear System Analysis:</a:t>
            </a:r>
            <a:endParaRPr lang="en-US"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b="1" dirty="0">
                <a:solidFill>
                  <a:schemeClr val="tx1"/>
                </a:solidFill>
                <a:latin typeface="Arial" panose="020B0604020202020204" pitchFamily="34" charset="0"/>
                <a:cs typeface="Arial" panose="020B0604020202020204" pitchFamily="34" charset="0"/>
              </a:rPr>
              <a:t>Nonlinear Model Testing:</a:t>
            </a:r>
            <a:r>
              <a:rPr lang="en-US" dirty="0">
                <a:solidFill>
                  <a:schemeClr val="tx1"/>
                </a:solidFill>
                <a:latin typeface="Arial" panose="020B0604020202020204" pitchFamily="34" charset="0"/>
                <a:cs typeface="Arial" panose="020B0604020202020204" pitchFamily="34" charset="0"/>
              </a:rPr>
              <a:t> Implement the closed-loop controllers in a nonlinear simulation environment.</a:t>
            </a:r>
          </a:p>
          <a:p>
            <a:pPr algn="l">
              <a:buFont typeface="Arial" panose="020B0604020202020204" pitchFamily="34" charset="0"/>
              <a:buChar char="•"/>
            </a:pPr>
            <a:r>
              <a:rPr lang="en-US" b="1" dirty="0">
                <a:solidFill>
                  <a:schemeClr val="tx1"/>
                </a:solidFill>
                <a:latin typeface="Arial" panose="020B0604020202020204" pitchFamily="34" charset="0"/>
                <a:cs typeface="Arial" panose="020B0604020202020204" pitchFamily="34" charset="0"/>
              </a:rPr>
              <a:t>Stability Testing:</a:t>
            </a:r>
            <a:r>
              <a:rPr lang="en-US" dirty="0">
                <a:solidFill>
                  <a:schemeClr val="tx1"/>
                </a:solidFill>
                <a:latin typeface="Arial" panose="020B0604020202020204" pitchFamily="34" charset="0"/>
                <a:cs typeface="Arial" panose="020B0604020202020204" pitchFamily="34" charset="0"/>
              </a:rPr>
              <a:t> Identify for which initial conditions the system remains stable.</a:t>
            </a:r>
          </a:p>
          <a:p>
            <a:pPr algn="l">
              <a:buFont typeface="Arial" panose="020B0604020202020204" pitchFamily="34" charset="0"/>
              <a:buChar char="•"/>
            </a:pPr>
            <a:r>
              <a:rPr lang="en-US" b="1" dirty="0">
                <a:solidFill>
                  <a:schemeClr val="tx1"/>
                </a:solidFill>
                <a:latin typeface="Arial" panose="020B0604020202020204" pitchFamily="34" charset="0"/>
                <a:cs typeface="Arial" panose="020B0604020202020204" pitchFamily="34" charset="0"/>
              </a:rPr>
              <a:t>Boundary Conditions:</a:t>
            </a:r>
            <a:r>
              <a:rPr lang="en-US" dirty="0">
                <a:solidFill>
                  <a:schemeClr val="tx1"/>
                </a:solidFill>
                <a:latin typeface="Arial" panose="020B0604020202020204" pitchFamily="34" charset="0"/>
                <a:cs typeface="Arial" panose="020B0604020202020204" pitchFamily="34" charset="0"/>
              </a:rPr>
              <a:t> Determine the edge-case initial conditions that lead to system stabilization, highlighting the robustness of each controller.</a:t>
            </a:r>
          </a:p>
          <a:p>
            <a:endParaRPr lang="en-US" dirty="0"/>
          </a:p>
        </p:txBody>
      </p:sp>
    </p:spTree>
    <p:extLst>
      <p:ext uri="{BB962C8B-B14F-4D97-AF65-F5344CB8AC3E}">
        <p14:creationId xmlns:p14="http://schemas.microsoft.com/office/powerpoint/2010/main" val="292773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 shot of a computer&#10;&#10;Description automatically generated">
            <a:extLst>
              <a:ext uri="{FF2B5EF4-FFF2-40B4-BE49-F238E27FC236}">
                <a16:creationId xmlns:a16="http://schemas.microsoft.com/office/drawing/2014/main" id="{5D49611C-3539-EA39-C285-D2B9C69F5E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762" y="1169670"/>
            <a:ext cx="2255520" cy="1426845"/>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780C727A-1232-9B01-ED7A-DF301440BC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0602" y="1162050"/>
            <a:ext cx="2164080" cy="1410970"/>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78C8BD88-F212-DF84-C3D1-3C906BF304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59462" y="1169670"/>
            <a:ext cx="2251710" cy="1403350"/>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8BA5EAAA-E6D7-8073-9B30-87D081477A7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3142" y="2678430"/>
            <a:ext cx="2263140" cy="1440180"/>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5013B0EE-441A-9975-C025-85F3E878F9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27742" y="2686050"/>
            <a:ext cx="2202180" cy="1395730"/>
          </a:xfrm>
          <a:prstGeom prst="rect">
            <a:avLst/>
          </a:prstGeom>
        </p:spPr>
      </p:pic>
      <p:pic>
        <p:nvPicPr>
          <p:cNvPr id="11" name="Picture 10" descr="A screen shot of a computer&#10;&#10;Description automatically generated">
            <a:extLst>
              <a:ext uri="{FF2B5EF4-FFF2-40B4-BE49-F238E27FC236}">
                <a16:creationId xmlns:a16="http://schemas.microsoft.com/office/drawing/2014/main" id="{FBB06428-DE06-7E4A-2D5A-1EE4983C806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889942" y="2663190"/>
            <a:ext cx="2240915" cy="1409700"/>
          </a:xfrm>
          <a:prstGeom prst="rect">
            <a:avLst/>
          </a:prstGeom>
        </p:spPr>
      </p:pic>
      <p:pic>
        <p:nvPicPr>
          <p:cNvPr id="12" name="Picture 11">
            <a:extLst>
              <a:ext uri="{FF2B5EF4-FFF2-40B4-BE49-F238E27FC236}">
                <a16:creationId xmlns:a16="http://schemas.microsoft.com/office/drawing/2014/main" id="{C181C79C-7D6D-C99B-5C47-A4DF3B9E3FC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13142" y="4293870"/>
            <a:ext cx="2244090" cy="1402080"/>
          </a:xfrm>
          <a:prstGeom prst="rect">
            <a:avLst/>
          </a:prstGeom>
        </p:spPr>
      </p:pic>
      <p:pic>
        <p:nvPicPr>
          <p:cNvPr id="13" name="Picture 12" descr="A screenshot of a computer&#10;&#10;Description automatically generated">
            <a:extLst>
              <a:ext uri="{FF2B5EF4-FFF2-40B4-BE49-F238E27FC236}">
                <a16:creationId xmlns:a16="http://schemas.microsoft.com/office/drawing/2014/main" id="{53C5545B-9892-1008-5A38-7E112F014FF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520122" y="4278630"/>
            <a:ext cx="2179320" cy="1376680"/>
          </a:xfrm>
          <a:prstGeom prst="rect">
            <a:avLst/>
          </a:prstGeom>
        </p:spPr>
      </p:pic>
      <p:pic>
        <p:nvPicPr>
          <p:cNvPr id="14" name="Picture 13" descr="A screenshot of a computer&#10;&#10;Description automatically generated">
            <a:extLst>
              <a:ext uri="{FF2B5EF4-FFF2-40B4-BE49-F238E27FC236}">
                <a16:creationId xmlns:a16="http://schemas.microsoft.com/office/drawing/2014/main" id="{608806BB-8B8F-AD8F-7ECF-3047B19B15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79147" y="4263390"/>
            <a:ext cx="2251710" cy="1403985"/>
          </a:xfrm>
          <a:prstGeom prst="rect">
            <a:avLst/>
          </a:prstGeom>
        </p:spPr>
      </p:pic>
    </p:spTree>
    <p:extLst>
      <p:ext uri="{BB962C8B-B14F-4D97-AF65-F5344CB8AC3E}">
        <p14:creationId xmlns:p14="http://schemas.microsoft.com/office/powerpoint/2010/main" val="42315403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aph of a line graph&#10;&#10;Description automatically generated with medium confidence">
            <a:extLst>
              <a:ext uri="{FF2B5EF4-FFF2-40B4-BE49-F238E27FC236}">
                <a16:creationId xmlns:a16="http://schemas.microsoft.com/office/drawing/2014/main" id="{5F94B53E-3E47-7C7C-72BE-C411654150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8782" y="791845"/>
            <a:ext cx="1955800" cy="1479550"/>
          </a:xfrm>
          <a:prstGeom prst="rect">
            <a:avLst/>
          </a:prstGeom>
        </p:spPr>
      </p:pic>
      <p:pic>
        <p:nvPicPr>
          <p:cNvPr id="12" name="Picture 11" descr="A graph with a line&#10;&#10;Description automatically generated">
            <a:extLst>
              <a:ext uri="{FF2B5EF4-FFF2-40B4-BE49-F238E27FC236}">
                <a16:creationId xmlns:a16="http://schemas.microsoft.com/office/drawing/2014/main" id="{F881E016-B71F-A0EA-0DF7-4614E1EA3F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4037" y="826135"/>
            <a:ext cx="1964055" cy="1454150"/>
          </a:xfrm>
          <a:prstGeom prst="rect">
            <a:avLst/>
          </a:prstGeom>
        </p:spPr>
      </p:pic>
      <p:pic>
        <p:nvPicPr>
          <p:cNvPr id="13" name="Picture 12" descr="A graph of a diagram&#10;&#10;Description automatically generated with medium confidence">
            <a:extLst>
              <a:ext uri="{FF2B5EF4-FFF2-40B4-BE49-F238E27FC236}">
                <a16:creationId xmlns:a16="http://schemas.microsoft.com/office/drawing/2014/main" id="{C9EE1EC1-2E2A-CBD1-A42C-FDC6EB4CFC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37982" y="2684145"/>
            <a:ext cx="2085975" cy="1565910"/>
          </a:xfrm>
          <a:prstGeom prst="rect">
            <a:avLst/>
          </a:prstGeom>
        </p:spPr>
      </p:pic>
      <p:pic>
        <p:nvPicPr>
          <p:cNvPr id="14" name="Picture 13" descr="A graph with a blue line&#10;&#10;Description automatically generated">
            <a:extLst>
              <a:ext uri="{FF2B5EF4-FFF2-40B4-BE49-F238E27FC236}">
                <a16:creationId xmlns:a16="http://schemas.microsoft.com/office/drawing/2014/main" id="{F5B82247-8E22-0553-B28F-308508F88C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13237" y="2684145"/>
            <a:ext cx="2048510" cy="1530350"/>
          </a:xfrm>
          <a:prstGeom prst="rect">
            <a:avLst/>
          </a:prstGeom>
        </p:spPr>
      </p:pic>
      <p:pic>
        <p:nvPicPr>
          <p:cNvPr id="15" name="Picture 14" descr="A graph with a line&#10;&#10;Description automatically generated">
            <a:extLst>
              <a:ext uri="{FF2B5EF4-FFF2-40B4-BE49-F238E27FC236}">
                <a16:creationId xmlns:a16="http://schemas.microsoft.com/office/drawing/2014/main" id="{09710010-34DB-C8E4-5E67-FC94CCFF267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89437" y="4415155"/>
            <a:ext cx="2181225" cy="1651000"/>
          </a:xfrm>
          <a:prstGeom prst="rect">
            <a:avLst/>
          </a:prstGeom>
        </p:spPr>
      </p:pic>
      <p:pic>
        <p:nvPicPr>
          <p:cNvPr id="16" name="Picture 15" descr="A graph of a diagram&#10;&#10;Description automatically generated">
            <a:extLst>
              <a:ext uri="{FF2B5EF4-FFF2-40B4-BE49-F238E27FC236}">
                <a16:creationId xmlns:a16="http://schemas.microsoft.com/office/drawing/2014/main" id="{B18A84E1-C799-BEFF-78FC-A3E9CF30E46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637982" y="4449445"/>
            <a:ext cx="1996440" cy="1489710"/>
          </a:xfrm>
          <a:prstGeom prst="rect">
            <a:avLst/>
          </a:prstGeom>
        </p:spPr>
      </p:pic>
    </p:spTree>
    <p:extLst>
      <p:ext uri="{BB962C8B-B14F-4D97-AF65-F5344CB8AC3E}">
        <p14:creationId xmlns:p14="http://schemas.microsoft.com/office/powerpoint/2010/main" val="26635677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a line graph&#10;&#10;Description automatically generated with medium confidence">
            <a:extLst>
              <a:ext uri="{FF2B5EF4-FFF2-40B4-BE49-F238E27FC236}">
                <a16:creationId xmlns:a16="http://schemas.microsoft.com/office/drawing/2014/main" id="{30F27303-1E32-52B5-FDCE-31CCBC9863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295" y="185574"/>
            <a:ext cx="2048510" cy="1552575"/>
          </a:xfrm>
          <a:prstGeom prst="rect">
            <a:avLst/>
          </a:prstGeom>
        </p:spPr>
      </p:pic>
      <p:pic>
        <p:nvPicPr>
          <p:cNvPr id="3" name="Picture 2" descr="A graph with a line&#10;&#10;Description automatically generated">
            <a:extLst>
              <a:ext uri="{FF2B5EF4-FFF2-40B4-BE49-F238E27FC236}">
                <a16:creationId xmlns:a16="http://schemas.microsoft.com/office/drawing/2014/main" id="{F7386F9B-30C9-8FC0-7827-E0B8C9ACB8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71495" y="247897"/>
            <a:ext cx="1845310" cy="1386840"/>
          </a:xfrm>
          <a:prstGeom prst="rect">
            <a:avLst/>
          </a:prstGeom>
        </p:spPr>
      </p:pic>
      <p:pic>
        <p:nvPicPr>
          <p:cNvPr id="4" name="Picture 3" descr="A graph of a line graph&#10;&#10;Description automatically generated with medium confidence">
            <a:extLst>
              <a:ext uri="{FF2B5EF4-FFF2-40B4-BE49-F238E27FC236}">
                <a16:creationId xmlns:a16="http://schemas.microsoft.com/office/drawing/2014/main" id="{D8F6C2BA-A075-708F-BB43-DA25D26D61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0832" y="256879"/>
            <a:ext cx="2124710" cy="1595755"/>
          </a:xfrm>
          <a:prstGeom prst="rect">
            <a:avLst/>
          </a:prstGeom>
        </p:spPr>
      </p:pic>
      <p:pic>
        <p:nvPicPr>
          <p:cNvPr id="5" name="Picture 4" descr="A graph of a diagram&#10;&#10;Description automatically generated with medium confidence">
            <a:extLst>
              <a:ext uri="{FF2B5EF4-FFF2-40B4-BE49-F238E27FC236}">
                <a16:creationId xmlns:a16="http://schemas.microsoft.com/office/drawing/2014/main" id="{2A493779-A2A3-C916-7BB4-AE0D197B2F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81605" y="2363184"/>
            <a:ext cx="2044700" cy="1515110"/>
          </a:xfrm>
          <a:prstGeom prst="rect">
            <a:avLst/>
          </a:prstGeom>
        </p:spPr>
      </p:pic>
      <p:pic>
        <p:nvPicPr>
          <p:cNvPr id="6" name="Picture 5" descr="A graph of a line graph&#10;&#10;Description automatically generated with medium confidence">
            <a:extLst>
              <a:ext uri="{FF2B5EF4-FFF2-40B4-BE49-F238E27FC236}">
                <a16:creationId xmlns:a16="http://schemas.microsoft.com/office/drawing/2014/main" id="{697A7222-F8B6-3BE4-2A4C-A0F2F7402F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5295" y="4196869"/>
            <a:ext cx="1964055" cy="1473200"/>
          </a:xfrm>
          <a:prstGeom prst="rect">
            <a:avLst/>
          </a:prstGeom>
        </p:spPr>
      </p:pic>
      <p:pic>
        <p:nvPicPr>
          <p:cNvPr id="7" name="Picture 6" descr="A graph of a diagram&#10;&#10;Description automatically generated with medium confidence">
            <a:extLst>
              <a:ext uri="{FF2B5EF4-FFF2-40B4-BE49-F238E27FC236}">
                <a16:creationId xmlns:a16="http://schemas.microsoft.com/office/drawing/2014/main" id="{24130A20-B568-A0D2-DBF3-849B22829B2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2000" y="4252114"/>
            <a:ext cx="1896110" cy="1417955"/>
          </a:xfrm>
          <a:prstGeom prst="rect">
            <a:avLst/>
          </a:prstGeom>
        </p:spPr>
      </p:pic>
      <p:pic>
        <p:nvPicPr>
          <p:cNvPr id="8" name="Picture 7" descr="A graph with a line&#10;&#10;Description automatically generated">
            <a:extLst>
              <a:ext uri="{FF2B5EF4-FFF2-40B4-BE49-F238E27FC236}">
                <a16:creationId xmlns:a16="http://schemas.microsoft.com/office/drawing/2014/main" id="{D3109DC2-14DE-EB7B-EE0B-9F5C4CF61ED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55295" y="2298219"/>
            <a:ext cx="1794510" cy="1338580"/>
          </a:xfrm>
          <a:prstGeom prst="rect">
            <a:avLst/>
          </a:prstGeom>
        </p:spPr>
      </p:pic>
      <p:pic>
        <p:nvPicPr>
          <p:cNvPr id="9" name="Picture 8" descr="A graph of a line&#10;&#10;Description automatically generated">
            <a:extLst>
              <a:ext uri="{FF2B5EF4-FFF2-40B4-BE49-F238E27FC236}">
                <a16:creationId xmlns:a16="http://schemas.microsoft.com/office/drawing/2014/main" id="{11173D91-F386-2219-9C13-65E4BD9C56A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838190" y="2363184"/>
            <a:ext cx="1746250" cy="1295400"/>
          </a:xfrm>
          <a:prstGeom prst="rect">
            <a:avLst/>
          </a:prstGeom>
        </p:spPr>
      </p:pic>
      <p:pic>
        <p:nvPicPr>
          <p:cNvPr id="10" name="Picture 9" descr="A graph with a line&#10;&#10;Description automatically generated">
            <a:extLst>
              <a:ext uri="{FF2B5EF4-FFF2-40B4-BE49-F238E27FC236}">
                <a16:creationId xmlns:a16="http://schemas.microsoft.com/office/drawing/2014/main" id="{64B6085B-1BD4-576F-9115-8ABD065D34DC}"/>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681605" y="4243706"/>
            <a:ext cx="1768475" cy="1286510"/>
          </a:xfrm>
          <a:prstGeom prst="rect">
            <a:avLst/>
          </a:prstGeom>
        </p:spPr>
      </p:pic>
      <p:pic>
        <p:nvPicPr>
          <p:cNvPr id="11" name="Picture 10" descr="A graph of a line&#10;&#10;Description automatically generated">
            <a:extLst>
              <a:ext uri="{FF2B5EF4-FFF2-40B4-BE49-F238E27FC236}">
                <a16:creationId xmlns:a16="http://schemas.microsoft.com/office/drawing/2014/main" id="{AC63D449-095D-2A80-32FC-D4487978D05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724652" y="4211034"/>
            <a:ext cx="1905635" cy="1417955"/>
          </a:xfrm>
          <a:prstGeom prst="rect">
            <a:avLst/>
          </a:prstGeom>
        </p:spPr>
      </p:pic>
    </p:spTree>
    <p:extLst>
      <p:ext uri="{BB962C8B-B14F-4D97-AF65-F5344CB8AC3E}">
        <p14:creationId xmlns:p14="http://schemas.microsoft.com/office/powerpoint/2010/main" val="580415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E9FBC8E-8666-4442-8D7D-B250510CD4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263" y="2005"/>
            <a:ext cx="8181474" cy="6853991"/>
          </a:xfrm>
          <a:custGeom>
            <a:avLst/>
            <a:gdLst>
              <a:gd name="connsiteX0" fmla="*/ 9059740 w 10908632"/>
              <a:gd name="connsiteY0" fmla="*/ 0 h 6853991"/>
              <a:gd name="connsiteX1" fmla="*/ 9694921 w 10908632"/>
              <a:gd name="connsiteY1" fmla="*/ 0 h 6853991"/>
              <a:gd name="connsiteX2" fmla="*/ 9825053 w 10908632"/>
              <a:gd name="connsiteY2" fmla="*/ 165594 h 6853991"/>
              <a:gd name="connsiteX3" fmla="*/ 10908632 w 10908632"/>
              <a:gd name="connsiteY3" fmla="*/ 3429000 h 6853991"/>
              <a:gd name="connsiteX4" fmla="*/ 9825053 w 10908632"/>
              <a:gd name="connsiteY4" fmla="*/ 6692406 h 6853991"/>
              <a:gd name="connsiteX5" fmla="*/ 9698072 w 10908632"/>
              <a:gd name="connsiteY5" fmla="*/ 6853991 h 6853991"/>
              <a:gd name="connsiteX6" fmla="*/ 9063562 w 10908632"/>
              <a:gd name="connsiteY6" fmla="*/ 6853991 h 6853991"/>
              <a:gd name="connsiteX7" fmla="*/ 9138428 w 10908632"/>
              <a:gd name="connsiteY7" fmla="*/ 6775466 h 6853991"/>
              <a:gd name="connsiteX8" fmla="*/ 10431379 w 10908632"/>
              <a:gd name="connsiteY8" fmla="*/ 3429000 h 6853991"/>
              <a:gd name="connsiteX9" fmla="*/ 9138428 w 10908632"/>
              <a:gd name="connsiteY9" fmla="*/ 82534 h 6853991"/>
              <a:gd name="connsiteX10" fmla="*/ 2037821 w 10908632"/>
              <a:gd name="connsiteY10" fmla="*/ 0 h 6853991"/>
              <a:gd name="connsiteX11" fmla="*/ 8870811 w 10908632"/>
              <a:gd name="connsiteY11" fmla="*/ 0 h 6853991"/>
              <a:gd name="connsiteX12" fmla="*/ 8877212 w 10908632"/>
              <a:gd name="connsiteY12" fmla="*/ 6103 h 6853991"/>
              <a:gd name="connsiteX13" fmla="*/ 10295021 w 10908632"/>
              <a:gd name="connsiteY13" fmla="*/ 3429000 h 6853991"/>
              <a:gd name="connsiteX14" fmla="*/ 8877212 w 10908632"/>
              <a:gd name="connsiteY14" fmla="*/ 6851897 h 6853991"/>
              <a:gd name="connsiteX15" fmla="*/ 8875015 w 10908632"/>
              <a:gd name="connsiteY15" fmla="*/ 6853991 h 6853991"/>
              <a:gd name="connsiteX16" fmla="*/ 2033617 w 10908632"/>
              <a:gd name="connsiteY16" fmla="*/ 6853991 h 6853991"/>
              <a:gd name="connsiteX17" fmla="*/ 2031421 w 10908632"/>
              <a:gd name="connsiteY17" fmla="*/ 6851897 h 6853991"/>
              <a:gd name="connsiteX18" fmla="*/ 613611 w 10908632"/>
              <a:gd name="connsiteY18" fmla="*/ 3429000 h 6853991"/>
              <a:gd name="connsiteX19" fmla="*/ 2031420 w 10908632"/>
              <a:gd name="connsiteY19" fmla="*/ 6103 h 6853991"/>
              <a:gd name="connsiteX20" fmla="*/ 1213711 w 10908632"/>
              <a:gd name="connsiteY20" fmla="*/ 0 h 6853991"/>
              <a:gd name="connsiteX21" fmla="*/ 1848893 w 10908632"/>
              <a:gd name="connsiteY21" fmla="*/ 0 h 6853991"/>
              <a:gd name="connsiteX22" fmla="*/ 1770204 w 10908632"/>
              <a:gd name="connsiteY22" fmla="*/ 82534 h 6853991"/>
              <a:gd name="connsiteX23" fmla="*/ 477253 w 10908632"/>
              <a:gd name="connsiteY23" fmla="*/ 3429000 h 6853991"/>
              <a:gd name="connsiteX24" fmla="*/ 1770204 w 10908632"/>
              <a:gd name="connsiteY24" fmla="*/ 6775466 h 6853991"/>
              <a:gd name="connsiteX25" fmla="*/ 1845071 w 10908632"/>
              <a:gd name="connsiteY25" fmla="*/ 6853991 h 6853991"/>
              <a:gd name="connsiteX26" fmla="*/ 1210561 w 10908632"/>
              <a:gd name="connsiteY26" fmla="*/ 6853991 h 6853991"/>
              <a:gd name="connsiteX27" fmla="*/ 1083579 w 10908632"/>
              <a:gd name="connsiteY27" fmla="*/ 6692406 h 6853991"/>
              <a:gd name="connsiteX28" fmla="*/ 0 w 10908632"/>
              <a:gd name="connsiteY28" fmla="*/ 3429000 h 6853991"/>
              <a:gd name="connsiteX29" fmla="*/ 1083579 w 10908632"/>
              <a:gd name="connsiteY29" fmla="*/ 165594 h 6853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0908632" h="6853991">
                <a:moveTo>
                  <a:pt x="9059740" y="0"/>
                </a:moveTo>
                <a:lnTo>
                  <a:pt x="9694921" y="0"/>
                </a:lnTo>
                <a:lnTo>
                  <a:pt x="9825053" y="165594"/>
                </a:lnTo>
                <a:cubicBezTo>
                  <a:pt x="10505610" y="1075607"/>
                  <a:pt x="10908632" y="2205238"/>
                  <a:pt x="10908632" y="3429000"/>
                </a:cubicBezTo>
                <a:cubicBezTo>
                  <a:pt x="10908632" y="4652762"/>
                  <a:pt x="10505610" y="5782393"/>
                  <a:pt x="9825053" y="6692406"/>
                </a:cubicBezTo>
                <a:lnTo>
                  <a:pt x="9698072" y="6853991"/>
                </a:lnTo>
                <a:lnTo>
                  <a:pt x="9063562" y="6853991"/>
                </a:lnTo>
                <a:lnTo>
                  <a:pt x="9138428" y="6775466"/>
                </a:lnTo>
                <a:cubicBezTo>
                  <a:pt x="9941761" y="5891604"/>
                  <a:pt x="10431379" y="4717480"/>
                  <a:pt x="10431379" y="3429000"/>
                </a:cubicBezTo>
                <a:cubicBezTo>
                  <a:pt x="10431379" y="2140521"/>
                  <a:pt x="9941761" y="966397"/>
                  <a:pt x="9138428" y="82534"/>
                </a:cubicBezTo>
                <a:close/>
                <a:moveTo>
                  <a:pt x="2037821" y="0"/>
                </a:moveTo>
                <a:lnTo>
                  <a:pt x="8870811" y="0"/>
                </a:lnTo>
                <a:lnTo>
                  <a:pt x="8877212" y="6103"/>
                </a:lnTo>
                <a:cubicBezTo>
                  <a:pt x="9753207" y="882099"/>
                  <a:pt x="10295021" y="2092275"/>
                  <a:pt x="10295021" y="3429000"/>
                </a:cubicBezTo>
                <a:cubicBezTo>
                  <a:pt x="10295021" y="4765725"/>
                  <a:pt x="9753207" y="5975902"/>
                  <a:pt x="8877212" y="6851897"/>
                </a:cubicBezTo>
                <a:lnTo>
                  <a:pt x="8875015" y="6853991"/>
                </a:lnTo>
                <a:lnTo>
                  <a:pt x="2033617" y="6853991"/>
                </a:lnTo>
                <a:lnTo>
                  <a:pt x="2031421" y="6851897"/>
                </a:lnTo>
                <a:cubicBezTo>
                  <a:pt x="1155426" y="5975902"/>
                  <a:pt x="613611" y="4765725"/>
                  <a:pt x="613611" y="3429000"/>
                </a:cubicBezTo>
                <a:cubicBezTo>
                  <a:pt x="613611" y="2092275"/>
                  <a:pt x="1155425" y="882099"/>
                  <a:pt x="2031420" y="6103"/>
                </a:cubicBezTo>
                <a:close/>
                <a:moveTo>
                  <a:pt x="1213711" y="0"/>
                </a:moveTo>
                <a:lnTo>
                  <a:pt x="1848893" y="0"/>
                </a:lnTo>
                <a:lnTo>
                  <a:pt x="1770204" y="82534"/>
                </a:lnTo>
                <a:cubicBezTo>
                  <a:pt x="966871" y="966397"/>
                  <a:pt x="477253" y="2140521"/>
                  <a:pt x="477253" y="3429000"/>
                </a:cubicBezTo>
                <a:cubicBezTo>
                  <a:pt x="477253" y="4717480"/>
                  <a:pt x="966872" y="5891604"/>
                  <a:pt x="1770204" y="6775466"/>
                </a:cubicBezTo>
                <a:lnTo>
                  <a:pt x="1845071" y="6853991"/>
                </a:lnTo>
                <a:lnTo>
                  <a:pt x="1210561" y="6853991"/>
                </a:lnTo>
                <a:lnTo>
                  <a:pt x="1083579" y="6692406"/>
                </a:lnTo>
                <a:cubicBezTo>
                  <a:pt x="403022" y="5782393"/>
                  <a:pt x="0" y="4652762"/>
                  <a:pt x="0" y="3429000"/>
                </a:cubicBezTo>
                <a:cubicBezTo>
                  <a:pt x="0" y="2205238"/>
                  <a:pt x="403022" y="1075607"/>
                  <a:pt x="1083579" y="165594"/>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pic>
        <p:nvPicPr>
          <p:cNvPr id="2" name="Picture 1" descr="A graph with numbers and colored dots&#10;&#10;Description automatically generated with medium confidence">
            <a:extLst>
              <a:ext uri="{FF2B5EF4-FFF2-40B4-BE49-F238E27FC236}">
                <a16:creationId xmlns:a16="http://schemas.microsoft.com/office/drawing/2014/main" id="{A3FF5F70-66A3-400B-A318-C2008AAB53DE}"/>
              </a:ext>
            </a:extLst>
          </p:cNvPr>
          <p:cNvPicPr>
            <a:picLocks noChangeAspect="1"/>
          </p:cNvPicPr>
          <p:nvPr/>
        </p:nvPicPr>
        <p:blipFill>
          <a:blip r:embed="rId2"/>
          <a:stretch>
            <a:fillRect/>
          </a:stretch>
        </p:blipFill>
        <p:spPr>
          <a:xfrm>
            <a:off x="2068920" y="1529538"/>
            <a:ext cx="5006160" cy="3798923"/>
          </a:xfrm>
          <a:prstGeom prst="rect">
            <a:avLst/>
          </a:prstGeom>
        </p:spPr>
      </p:pic>
    </p:spTree>
    <p:extLst>
      <p:ext uri="{BB962C8B-B14F-4D97-AF65-F5344CB8AC3E}">
        <p14:creationId xmlns:p14="http://schemas.microsoft.com/office/powerpoint/2010/main" val="3661373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a function&#10;&#10;Description automatically generated">
            <a:extLst>
              <a:ext uri="{FF2B5EF4-FFF2-40B4-BE49-F238E27FC236}">
                <a16:creationId xmlns:a16="http://schemas.microsoft.com/office/drawing/2014/main" id="{7FDD16BB-8B01-4F81-44CC-D08E1A3285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370" y="238126"/>
            <a:ext cx="2164695" cy="1622400"/>
          </a:xfrm>
          <a:prstGeom prst="rect">
            <a:avLst/>
          </a:prstGeom>
        </p:spPr>
      </p:pic>
      <p:pic>
        <p:nvPicPr>
          <p:cNvPr id="3" name="Picture 2" descr="A graph of a line graph&#10;&#10;Description automatically generated">
            <a:extLst>
              <a:ext uri="{FF2B5EF4-FFF2-40B4-BE49-F238E27FC236}">
                <a16:creationId xmlns:a16="http://schemas.microsoft.com/office/drawing/2014/main" id="{2684F328-B6FB-34E6-7BA4-2F0CE35D09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3796" y="238126"/>
            <a:ext cx="2103007" cy="1555104"/>
          </a:xfrm>
          <a:prstGeom prst="rect">
            <a:avLst/>
          </a:prstGeom>
        </p:spPr>
      </p:pic>
      <p:pic>
        <p:nvPicPr>
          <p:cNvPr id="4" name="Picture 3" descr="A graph of a function&#10;&#10;Description automatically generated">
            <a:extLst>
              <a:ext uri="{FF2B5EF4-FFF2-40B4-BE49-F238E27FC236}">
                <a16:creationId xmlns:a16="http://schemas.microsoft.com/office/drawing/2014/main" id="{9B110C8E-B1F5-5C00-62D0-4D2F627974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6825" y="2129154"/>
            <a:ext cx="1936749" cy="1449473"/>
          </a:xfrm>
          <a:prstGeom prst="rect">
            <a:avLst/>
          </a:prstGeom>
        </p:spPr>
      </p:pic>
      <p:pic>
        <p:nvPicPr>
          <p:cNvPr id="5" name="Picture 4" descr="A graph of a function&#10;&#10;Description automatically generated">
            <a:extLst>
              <a:ext uri="{FF2B5EF4-FFF2-40B4-BE49-F238E27FC236}">
                <a16:creationId xmlns:a16="http://schemas.microsoft.com/office/drawing/2014/main" id="{A4B5A052-FB93-8C51-953D-124A3A33D1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680" y="4189920"/>
            <a:ext cx="1858249" cy="1400251"/>
          </a:xfrm>
          <a:prstGeom prst="rect">
            <a:avLst/>
          </a:prstGeom>
        </p:spPr>
      </p:pic>
      <p:pic>
        <p:nvPicPr>
          <p:cNvPr id="6" name="Picture 5" descr="A graph of a blue line">
            <a:extLst>
              <a:ext uri="{FF2B5EF4-FFF2-40B4-BE49-F238E27FC236}">
                <a16:creationId xmlns:a16="http://schemas.microsoft.com/office/drawing/2014/main" id="{0BF9B5C6-4092-AB09-AF91-1294601F48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46529" y="238126"/>
            <a:ext cx="2190492" cy="1633055"/>
          </a:xfrm>
          <a:prstGeom prst="rect">
            <a:avLst/>
          </a:prstGeom>
        </p:spPr>
      </p:pic>
      <p:pic>
        <p:nvPicPr>
          <p:cNvPr id="7" name="Picture 6" descr="A graph of a graph&#10;&#10;Description automatically generated">
            <a:extLst>
              <a:ext uri="{FF2B5EF4-FFF2-40B4-BE49-F238E27FC236}">
                <a16:creationId xmlns:a16="http://schemas.microsoft.com/office/drawing/2014/main" id="{731C0552-975A-4C64-604E-EB1F90635E5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0120" y="2167255"/>
            <a:ext cx="2099375" cy="1568631"/>
          </a:xfrm>
          <a:prstGeom prst="rect">
            <a:avLst/>
          </a:prstGeom>
        </p:spPr>
      </p:pic>
      <p:pic>
        <p:nvPicPr>
          <p:cNvPr id="8" name="Picture 7" descr="A graph with blue lines&#10;&#10;Description automatically generated">
            <a:extLst>
              <a:ext uri="{FF2B5EF4-FFF2-40B4-BE49-F238E27FC236}">
                <a16:creationId xmlns:a16="http://schemas.microsoft.com/office/drawing/2014/main" id="{34BCDA88-4533-5BD0-E8E4-8D0108D5009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72616" y="2167255"/>
            <a:ext cx="2050696" cy="1469731"/>
          </a:xfrm>
          <a:prstGeom prst="rect">
            <a:avLst/>
          </a:prstGeom>
        </p:spPr>
      </p:pic>
      <p:pic>
        <p:nvPicPr>
          <p:cNvPr id="9" name="Picture 8" descr="A graph of a line graph&#10;&#10;Description automatically generated">
            <a:extLst>
              <a:ext uri="{FF2B5EF4-FFF2-40B4-BE49-F238E27FC236}">
                <a16:creationId xmlns:a16="http://schemas.microsoft.com/office/drawing/2014/main" id="{6E54FAC1-46F1-5F0F-E9DE-F75150E2DE1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206180" y="4139937"/>
            <a:ext cx="1930841" cy="1450234"/>
          </a:xfrm>
          <a:prstGeom prst="rect">
            <a:avLst/>
          </a:prstGeom>
        </p:spPr>
      </p:pic>
    </p:spTree>
    <p:extLst>
      <p:ext uri="{BB962C8B-B14F-4D97-AF65-F5344CB8AC3E}">
        <p14:creationId xmlns:p14="http://schemas.microsoft.com/office/powerpoint/2010/main" val="1744999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graph of a function&#10;&#10;Description automatically generated">
            <a:extLst>
              <a:ext uri="{FF2B5EF4-FFF2-40B4-BE49-F238E27FC236}">
                <a16:creationId xmlns:a16="http://schemas.microsoft.com/office/drawing/2014/main" id="{55262F17-D6D5-33BF-36FA-631CE7855A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7260" y="1964717"/>
            <a:ext cx="2224742" cy="1662266"/>
          </a:xfrm>
          <a:prstGeom prst="rect">
            <a:avLst/>
          </a:prstGeom>
        </p:spPr>
      </p:pic>
      <p:pic>
        <p:nvPicPr>
          <p:cNvPr id="3" name="Picture 2" descr="A graph of a function&#10;&#10;Description automatically generated">
            <a:extLst>
              <a:ext uri="{FF2B5EF4-FFF2-40B4-BE49-F238E27FC236}">
                <a16:creationId xmlns:a16="http://schemas.microsoft.com/office/drawing/2014/main" id="{780C8170-1F56-18B1-8F55-9DFA7524B5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403" y="3605869"/>
            <a:ext cx="2147023" cy="1591258"/>
          </a:xfrm>
          <a:prstGeom prst="rect">
            <a:avLst/>
          </a:prstGeom>
        </p:spPr>
      </p:pic>
      <p:pic>
        <p:nvPicPr>
          <p:cNvPr id="4" name="Picture 3">
            <a:extLst>
              <a:ext uri="{FF2B5EF4-FFF2-40B4-BE49-F238E27FC236}">
                <a16:creationId xmlns:a16="http://schemas.microsoft.com/office/drawing/2014/main" id="{33B309DD-610B-9B12-826E-D699D37EF7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9419" y="89743"/>
            <a:ext cx="2251021" cy="1699727"/>
          </a:xfrm>
          <a:prstGeom prst="rect">
            <a:avLst/>
          </a:prstGeom>
        </p:spPr>
      </p:pic>
      <p:pic>
        <p:nvPicPr>
          <p:cNvPr id="5" name="Picture 4" descr="A graph of a function&#10;&#10;Description automatically generated">
            <a:extLst>
              <a:ext uri="{FF2B5EF4-FFF2-40B4-BE49-F238E27FC236}">
                <a16:creationId xmlns:a16="http://schemas.microsoft.com/office/drawing/2014/main" id="{921ADA5B-D37E-3F40-3DFC-CFE912CE48F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66670" y="211911"/>
            <a:ext cx="2299664" cy="1706996"/>
          </a:xfrm>
          <a:prstGeom prst="rect">
            <a:avLst/>
          </a:prstGeom>
        </p:spPr>
      </p:pic>
      <p:pic>
        <p:nvPicPr>
          <p:cNvPr id="6" name="Picture 5" descr="A graph with a line&#10;&#10;Description automatically generated">
            <a:extLst>
              <a:ext uri="{FF2B5EF4-FFF2-40B4-BE49-F238E27FC236}">
                <a16:creationId xmlns:a16="http://schemas.microsoft.com/office/drawing/2014/main" id="{D070D399-FEBA-6A39-9BC9-4376D0515A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6222" y="1964716"/>
            <a:ext cx="2128014" cy="1587903"/>
          </a:xfrm>
          <a:prstGeom prst="rect">
            <a:avLst/>
          </a:prstGeom>
        </p:spPr>
      </p:pic>
      <p:pic>
        <p:nvPicPr>
          <p:cNvPr id="7" name="Picture 6" descr="A graph of a blue line&#10;&#10;Description automatically generated">
            <a:extLst>
              <a:ext uri="{FF2B5EF4-FFF2-40B4-BE49-F238E27FC236}">
                <a16:creationId xmlns:a16="http://schemas.microsoft.com/office/drawing/2014/main" id="{50DA450A-C9F1-F17D-FC69-1EF336BA591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28722" y="89744"/>
            <a:ext cx="2087199" cy="1551561"/>
          </a:xfrm>
          <a:prstGeom prst="rect">
            <a:avLst/>
          </a:prstGeom>
        </p:spPr>
      </p:pic>
      <p:pic>
        <p:nvPicPr>
          <p:cNvPr id="8" name="Picture 7" descr="A graph of a line graph&#10;&#10;Description automatically generated">
            <a:extLst>
              <a:ext uri="{FF2B5EF4-FFF2-40B4-BE49-F238E27FC236}">
                <a16:creationId xmlns:a16="http://schemas.microsoft.com/office/drawing/2014/main" id="{8361FDF6-E70B-545A-E3AB-D942C72D0DA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6215" y="1964717"/>
            <a:ext cx="2242633" cy="1676803"/>
          </a:xfrm>
          <a:prstGeom prst="rect">
            <a:avLst/>
          </a:prstGeom>
        </p:spPr>
      </p:pic>
      <p:pic>
        <p:nvPicPr>
          <p:cNvPr id="9" name="Picture 8" descr="A graph of a line&#10;&#10;Description automatically generated">
            <a:extLst>
              <a:ext uri="{FF2B5EF4-FFF2-40B4-BE49-F238E27FC236}">
                <a16:creationId xmlns:a16="http://schemas.microsoft.com/office/drawing/2014/main" id="{D05CB19A-C90D-F7EE-CB0B-697E2233D2B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053292" y="3751240"/>
            <a:ext cx="1888710" cy="1445887"/>
          </a:xfrm>
          <a:prstGeom prst="rect">
            <a:avLst/>
          </a:prstGeom>
        </p:spPr>
      </p:pic>
    </p:spTree>
    <p:extLst>
      <p:ext uri="{BB962C8B-B14F-4D97-AF65-F5344CB8AC3E}">
        <p14:creationId xmlns:p14="http://schemas.microsoft.com/office/powerpoint/2010/main" val="33942196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999"/>
            <a:ext cx="9075174" cy="1143000"/>
          </a:xfrm>
        </p:spPr>
        <p:txBody>
          <a:bodyPr>
            <a:noAutofit/>
          </a:bodyPr>
          <a:lstStyle/>
          <a:p>
            <a:r>
              <a:rPr lang="en-US" sz="3600" dirty="0"/>
              <a:t>Objectives of System Analysis Under Uncertainty</a:t>
            </a:r>
            <a:endParaRPr sz="3600" dirty="0"/>
          </a:p>
        </p:txBody>
      </p:sp>
      <p:sp>
        <p:nvSpPr>
          <p:cNvPr id="3" name="Content Placeholder 2"/>
          <p:cNvSpPr>
            <a:spLocks noGrp="1"/>
          </p:cNvSpPr>
          <p:nvPr>
            <p:ph idx="1"/>
          </p:nvPr>
        </p:nvSpPr>
        <p:spPr/>
        <p:txBody>
          <a:bodyPr>
            <a:normAutofit/>
          </a:bodyPr>
          <a:lstStyle/>
          <a:p>
            <a:r>
              <a:rPr lang="en-US" sz="1800" b="1" dirty="0">
                <a:latin typeface="Arial" panose="020B0604020202020204" pitchFamily="34" charset="0"/>
                <a:cs typeface="Arial" panose="020B0604020202020204" pitchFamily="34" charset="0"/>
              </a:rPr>
              <a:t>Objective Overview:</a:t>
            </a:r>
            <a:endParaRPr lang="en-US" sz="1800" dirty="0">
              <a:latin typeface="Arial" panose="020B0604020202020204" pitchFamily="34" charset="0"/>
              <a:cs typeface="Arial" panose="020B0604020202020204" pitchFamily="34" charset="0"/>
            </a:endParaRP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Purpose:</a:t>
            </a:r>
            <a:r>
              <a:rPr lang="en-US" sz="1800" dirty="0">
                <a:latin typeface="Arial" panose="020B0604020202020204" pitchFamily="34" charset="0"/>
                <a:cs typeface="Arial" panose="020B0604020202020204" pitchFamily="34" charset="0"/>
              </a:rPr>
              <a:t> Evaluate the performance and stability of a control system under the influence of uncertainties, disturbances (w), and noise (v), using advanced filtering techniques.</a:t>
            </a:r>
          </a:p>
          <a:p>
            <a:pPr>
              <a:buFont typeface="Arial" panose="020B0604020202020204" pitchFamily="34" charset="0"/>
              <a:buChar char="•"/>
            </a:pPr>
            <a:r>
              <a:rPr lang="en-US" sz="1800" b="1" dirty="0">
                <a:latin typeface="Arial" panose="020B0604020202020204" pitchFamily="34" charset="0"/>
                <a:cs typeface="Arial" panose="020B0604020202020204" pitchFamily="34" charset="0"/>
              </a:rPr>
              <a:t>Model Description:</a:t>
            </a:r>
            <a:r>
              <a:rPr lang="en-US" sz="1800" dirty="0">
                <a:latin typeface="Arial" panose="020B0604020202020204" pitchFamily="34" charset="0"/>
                <a:cs typeface="Arial" panose="020B0604020202020204" pitchFamily="34" charset="0"/>
              </a:rPr>
              <a:t> The system dynamics are described by the equation </a:t>
            </a:r>
            <a:r>
              <a:rPr lang="en-US" sz="1800" dirty="0" err="1">
                <a:latin typeface="Arial" panose="020B0604020202020204" pitchFamily="34" charset="0"/>
                <a:cs typeface="Arial" panose="020B0604020202020204" pitchFamily="34" charset="0"/>
              </a:rPr>
              <a:t>x_dot</a:t>
            </a:r>
            <a:r>
              <a:rPr lang="en-US" sz="1800" dirty="0">
                <a:latin typeface="Arial" panose="020B0604020202020204" pitchFamily="34" charset="0"/>
                <a:cs typeface="Arial" panose="020B0604020202020204" pitchFamily="34" charset="0"/>
              </a:rPr>
              <a:t>=</a:t>
            </a:r>
            <a:r>
              <a:rPr lang="en-US" sz="1800" dirty="0" err="1">
                <a:latin typeface="Arial" panose="020B0604020202020204" pitchFamily="34" charset="0"/>
                <a:cs typeface="Arial" panose="020B0604020202020204" pitchFamily="34" charset="0"/>
              </a:rPr>
              <a:t>Ax+Bu+Gw</a:t>
            </a:r>
            <a:r>
              <a:rPr lang="en-US" sz="1800" dirty="0">
                <a:latin typeface="Arial" panose="020B0604020202020204" pitchFamily="34" charset="0"/>
                <a:cs typeface="Arial" panose="020B0604020202020204" pitchFamily="34" charset="0"/>
              </a:rPr>
              <a:t>, where w </a:t>
            </a:r>
            <a:r>
              <a:rPr lang="en-US" sz="1800">
                <a:latin typeface="Arial" panose="020B0604020202020204" pitchFamily="34" charset="0"/>
                <a:cs typeface="Arial" panose="020B0604020202020204" pitchFamily="34" charset="0"/>
              </a:rPr>
              <a:t>and v </a:t>
            </a:r>
            <a:r>
              <a:rPr lang="en-US" sz="1800" dirty="0">
                <a:latin typeface="Arial" panose="020B0604020202020204" pitchFamily="34" charset="0"/>
                <a:cs typeface="Arial" panose="020B0604020202020204" pitchFamily="34" charset="0"/>
              </a:rPr>
              <a:t>represent process and measurement noise, respectively, modeled as white noise.</a:t>
            </a:r>
          </a:p>
          <a:p>
            <a:pPr>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0" indent="0">
              <a:buNone/>
            </a:pPr>
            <a:endParaRPr lang="en-US" sz="1800" dirty="0">
              <a:latin typeface="Arial" panose="020B0604020202020204" pitchFamily="34" charset="0"/>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E0807CE-9025-B88D-C107-4ED4BA71A12A}"/>
              </a:ext>
            </a:extLst>
          </p:cNvPr>
          <p:cNvSpPr>
            <a:spLocks noGrp="1"/>
          </p:cNvSpPr>
          <p:nvPr>
            <p:ph type="subTitle" idx="1"/>
          </p:nvPr>
        </p:nvSpPr>
        <p:spPr>
          <a:xfrm>
            <a:off x="-1" y="471948"/>
            <a:ext cx="9065343" cy="6386052"/>
          </a:xfrm>
        </p:spPr>
        <p:txBody>
          <a:bodyPr>
            <a:normAutofit fontScale="47500" lnSpcReduction="20000"/>
          </a:bodyPr>
          <a:lstStyle/>
          <a:p>
            <a:pPr algn="l"/>
            <a:r>
              <a:rPr lang="en-US" sz="3300" b="1" dirty="0">
                <a:solidFill>
                  <a:schemeClr val="tx1"/>
                </a:solidFill>
                <a:latin typeface="Arial" panose="020B0604020202020204" pitchFamily="34" charset="0"/>
                <a:cs typeface="Arial" panose="020B0604020202020204" pitchFamily="34" charset="0"/>
              </a:rPr>
              <a:t>Detailed Objectives:</a:t>
            </a:r>
          </a:p>
          <a:p>
            <a:pPr algn="l">
              <a:buFont typeface="+mj-lt"/>
              <a:buAutoNum type="arabicPeriod"/>
            </a:pPr>
            <a:r>
              <a:rPr lang="en-US" sz="3300" b="1" dirty="0">
                <a:solidFill>
                  <a:schemeClr val="tx1"/>
                </a:solidFill>
                <a:latin typeface="Arial" panose="020B0604020202020204" pitchFamily="34" charset="0"/>
                <a:cs typeface="Arial" panose="020B0604020202020204" pitchFamily="34" charset="0"/>
              </a:rPr>
              <a:t>Kalman Filter Implementation:</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Conditions Check: Verify if the necessary conditions for implementing a Kalman filter are met within the system.</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Filter Design: Compute the Kalman filter gain </a:t>
            </a:r>
            <a:r>
              <a:rPr lang="en-US" sz="3300" dirty="0" err="1">
                <a:solidFill>
                  <a:schemeClr val="tx1"/>
                </a:solidFill>
                <a:latin typeface="Arial" panose="020B0604020202020204" pitchFamily="34" charset="0"/>
                <a:cs typeface="Arial" panose="020B0604020202020204" pitchFamily="34" charset="0"/>
              </a:rPr>
              <a:t>L_Kalman</a:t>
            </a:r>
            <a:r>
              <a:rPr lang="en-US" sz="3300" dirty="0">
                <a:solidFill>
                  <a:schemeClr val="tx1"/>
                </a:solidFill>
                <a:latin typeface="Arial" panose="020B0604020202020204" pitchFamily="34" charset="0"/>
                <a:cs typeface="Arial" panose="020B0604020202020204" pitchFamily="34" charset="0"/>
              </a:rPr>
              <a:t>​ for different noise covariance values </a:t>
            </a:r>
            <a:r>
              <a:rPr lang="en-US" sz="3300" dirty="0" err="1">
                <a:solidFill>
                  <a:schemeClr val="tx1"/>
                </a:solidFill>
                <a:latin typeface="Arial" panose="020B0604020202020204" pitchFamily="34" charset="0"/>
                <a:cs typeface="Arial" panose="020B0604020202020204" pitchFamily="34" charset="0"/>
              </a:rPr>
              <a:t>w_var</a:t>
            </a:r>
            <a:r>
              <a:rPr lang="en-US" sz="3300" dirty="0">
                <a:solidFill>
                  <a:schemeClr val="tx1"/>
                </a:solidFill>
                <a:latin typeface="Arial" panose="020B0604020202020204" pitchFamily="34" charset="0"/>
                <a:cs typeface="Arial" panose="020B0604020202020204" pitchFamily="34" charset="0"/>
              </a:rPr>
              <a:t>​.</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Stability Analysis: Determine the eigenvalues of the Kalman filter to assess its impact on system stability.</a:t>
            </a:r>
          </a:p>
          <a:p>
            <a:pPr algn="l">
              <a:buFont typeface="+mj-lt"/>
              <a:buAutoNum type="arabicPeriod"/>
            </a:pPr>
            <a:r>
              <a:rPr lang="en-US" sz="3300" dirty="0">
                <a:solidFill>
                  <a:schemeClr val="tx1"/>
                </a:solidFill>
                <a:latin typeface="Arial" panose="020B0604020202020204" pitchFamily="34" charset="0"/>
                <a:cs typeface="Arial" panose="020B0604020202020204" pitchFamily="34" charset="0"/>
              </a:rPr>
              <a:t>Simulink Modeling:</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Closed-loop Simulation: Integrate the state controller and Kalman filter into a Simulink model to simulate the system’s response to noise and disturbances.</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Controller Selection: Useful</a:t>
            </a:r>
          </a:p>
          <a:p>
            <a:pPr algn="l">
              <a:buFont typeface="+mj-lt"/>
              <a:buAutoNum type="arabicPeriod"/>
            </a:pPr>
            <a:r>
              <a:rPr lang="en-US" sz="3300" dirty="0">
                <a:solidFill>
                  <a:schemeClr val="tx1"/>
                </a:solidFill>
                <a:latin typeface="Arial" panose="020B0604020202020204" pitchFamily="34" charset="0"/>
                <a:cs typeface="Arial" panose="020B0604020202020204" pitchFamily="34" charset="0"/>
              </a:rPr>
              <a:t>System Response Evaluation:</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Observer Comparison: Analyze the system's response using two different observers—</a:t>
            </a:r>
            <a:r>
              <a:rPr lang="en-US" sz="3300" dirty="0" err="1">
                <a:solidFill>
                  <a:schemeClr val="tx1"/>
                </a:solidFill>
                <a:latin typeface="Arial" panose="020B0604020202020204" pitchFamily="34" charset="0"/>
                <a:cs typeface="Arial" panose="020B0604020202020204" pitchFamily="34" charset="0"/>
              </a:rPr>
              <a:t>Lkalman</a:t>
            </a:r>
            <a:r>
              <a:rPr lang="en-US" sz="3300" dirty="0">
                <a:solidFill>
                  <a:schemeClr val="tx1"/>
                </a:solidFill>
                <a:latin typeface="Arial" panose="020B0604020202020204" pitchFamily="34" charset="0"/>
                <a:cs typeface="Arial" panose="020B0604020202020204" pitchFamily="34" charset="0"/>
              </a:rPr>
              <a:t> L1​—under varying noise conditions.</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Stability and Response Quality: Identify which observer configuration yields a stable system and superior performance.</a:t>
            </a:r>
          </a:p>
          <a:p>
            <a:pPr algn="l">
              <a:buFont typeface="+mj-lt"/>
              <a:buAutoNum type="arabicPeriod"/>
            </a:pPr>
            <a:r>
              <a:rPr lang="en-US" sz="3300" dirty="0">
                <a:solidFill>
                  <a:schemeClr val="tx1"/>
                </a:solidFill>
                <a:latin typeface="Arial" panose="020B0604020202020204" pitchFamily="34" charset="0"/>
                <a:cs typeface="Arial" panose="020B0604020202020204" pitchFamily="34" charset="0"/>
              </a:rPr>
              <a:t>Error Analysis:</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Quadratic Error Calculation: Compare the quadratic error between the Kalman filter and the L1​observe to what</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Impact of Noise Levels: Examine how different values of </a:t>
            </a:r>
            <a:r>
              <a:rPr lang="en-US" sz="3300" dirty="0" err="1">
                <a:solidFill>
                  <a:schemeClr val="tx1"/>
                </a:solidFill>
                <a:latin typeface="Arial" panose="020B0604020202020204" pitchFamily="34" charset="0"/>
                <a:cs typeface="Arial" panose="020B0604020202020204" pitchFamily="34" charset="0"/>
              </a:rPr>
              <a:t>w_var</a:t>
            </a:r>
            <a:r>
              <a:rPr lang="en-US" sz="3300" dirty="0">
                <a:solidFill>
                  <a:schemeClr val="tx1"/>
                </a:solidFill>
                <a:latin typeface="Arial" panose="020B0604020202020204" pitchFamily="34" charset="0"/>
                <a:cs typeface="Arial" panose="020B0604020202020204" pitchFamily="34" charset="0"/>
              </a:rPr>
              <a:t> and </a:t>
            </a:r>
            <a:r>
              <a:rPr lang="en-US" sz="3300" dirty="0" err="1">
                <a:solidFill>
                  <a:schemeClr val="tx1"/>
                </a:solidFill>
                <a:latin typeface="Arial" panose="020B0604020202020204" pitchFamily="34" charset="0"/>
                <a:cs typeface="Arial" panose="020B0604020202020204" pitchFamily="34" charset="0"/>
              </a:rPr>
              <a:t>v_var</a:t>
            </a:r>
            <a:r>
              <a:rPr lang="en-US" sz="3300" dirty="0">
                <a:solidFill>
                  <a:schemeClr val="tx1"/>
                </a:solidFill>
                <a:latin typeface="Arial" panose="020B0604020202020204" pitchFamily="34" charset="0"/>
                <a:cs typeface="Arial" panose="020B0604020202020204" pitchFamily="34" charset="0"/>
              </a:rPr>
              <a:t> affect the performance and accuracy of each observer.</a:t>
            </a:r>
          </a:p>
          <a:p>
            <a:pPr algn="l">
              <a:buFont typeface="+mj-lt"/>
              <a:buAutoNum type="arabicPeriod"/>
            </a:pPr>
            <a:r>
              <a:rPr lang="en-US" sz="3300" dirty="0">
                <a:solidFill>
                  <a:schemeClr val="tx1"/>
                </a:solidFill>
                <a:latin typeface="Arial" panose="020B0604020202020204" pitchFamily="34" charset="0"/>
                <a:cs typeface="Arial" panose="020B0604020202020204" pitchFamily="34" charset="0"/>
              </a:rPr>
              <a:t>Optimal Use of Kalman Filter:</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Benefits of Kalman Filter: In</a:t>
            </a:r>
          </a:p>
          <a:p>
            <a:pPr marL="742950" lvl="1" indent="-285750" algn="l">
              <a:buFont typeface="+mj-lt"/>
              <a:buAutoNum type="arabicPeriod"/>
            </a:pPr>
            <a:r>
              <a:rPr lang="en-US" sz="3300" dirty="0">
                <a:solidFill>
                  <a:schemeClr val="tx1"/>
                </a:solidFill>
                <a:latin typeface="Arial" panose="020B0604020202020204" pitchFamily="34" charset="0"/>
                <a:cs typeface="Arial" panose="020B0604020202020204" pitchFamily="34" charset="0"/>
              </a:rPr>
              <a:t>System Improvement: Explore how adjusting the noise parameters influences the utility of the Kalman filter in maintaining system stability and accuracy.</a:t>
            </a:r>
          </a:p>
          <a:p>
            <a:pPr algn="l"/>
            <a:endParaRPr lang="en-US" dirty="0"/>
          </a:p>
        </p:txBody>
      </p:sp>
    </p:spTree>
    <p:extLst>
      <p:ext uri="{BB962C8B-B14F-4D97-AF65-F5344CB8AC3E}">
        <p14:creationId xmlns:p14="http://schemas.microsoft.com/office/powerpoint/2010/main" val="3641429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shot of a computer code&#10;&#10;Description automatically generated">
            <a:extLst>
              <a:ext uri="{FF2B5EF4-FFF2-40B4-BE49-F238E27FC236}">
                <a16:creationId xmlns:a16="http://schemas.microsoft.com/office/drawing/2014/main" id="{EC84815D-196A-E5DA-2BE4-7660D9E491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1712" y="350520"/>
            <a:ext cx="1531620" cy="1280160"/>
          </a:xfrm>
          <a:prstGeom prst="rect">
            <a:avLst/>
          </a:prstGeom>
        </p:spPr>
      </p:pic>
      <p:pic>
        <p:nvPicPr>
          <p:cNvPr id="3" name="Picture 2" descr="A screenshot of a computer&#10;&#10;Description automatically generated">
            <a:extLst>
              <a:ext uri="{FF2B5EF4-FFF2-40B4-BE49-F238E27FC236}">
                <a16:creationId xmlns:a16="http://schemas.microsoft.com/office/drawing/2014/main" id="{4EBB692B-8C73-968A-AE89-5A2B4DC7A71C}"/>
              </a:ext>
            </a:extLst>
          </p:cNvPr>
          <p:cNvPicPr>
            <a:picLocks noChangeAspect="1"/>
          </p:cNvPicPr>
          <p:nvPr/>
        </p:nvPicPr>
        <p:blipFill>
          <a:blip r:embed="rId3"/>
          <a:stretch>
            <a:fillRect/>
          </a:stretch>
        </p:blipFill>
        <p:spPr>
          <a:xfrm>
            <a:off x="2183497" y="308610"/>
            <a:ext cx="1729740" cy="2407920"/>
          </a:xfrm>
          <a:prstGeom prst="rect">
            <a:avLst/>
          </a:prstGeom>
        </p:spPr>
      </p:pic>
      <p:pic>
        <p:nvPicPr>
          <p:cNvPr id="4" name="Picture 3" descr="A screenshot of a computer&#10;&#10;Description automatically generated">
            <a:extLst>
              <a:ext uri="{FF2B5EF4-FFF2-40B4-BE49-F238E27FC236}">
                <a16:creationId xmlns:a16="http://schemas.microsoft.com/office/drawing/2014/main" id="{F06C4E11-11B2-93D7-A376-9084094536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84945" y="308610"/>
            <a:ext cx="1691640" cy="2324100"/>
          </a:xfrm>
          <a:prstGeom prst="rect">
            <a:avLst/>
          </a:prstGeom>
        </p:spPr>
      </p:pic>
      <p:pic>
        <p:nvPicPr>
          <p:cNvPr id="5" name="Picture 4">
            <a:extLst>
              <a:ext uri="{FF2B5EF4-FFF2-40B4-BE49-F238E27FC236}">
                <a16:creationId xmlns:a16="http://schemas.microsoft.com/office/drawing/2014/main" id="{3450379D-0C9B-FEBB-4688-54FFA8CF06B2}"/>
              </a:ext>
            </a:extLst>
          </p:cNvPr>
          <p:cNvPicPr>
            <a:picLocks noChangeAspect="1"/>
          </p:cNvPicPr>
          <p:nvPr/>
        </p:nvPicPr>
        <p:blipFill>
          <a:blip r:embed="rId5"/>
          <a:stretch>
            <a:fillRect/>
          </a:stretch>
        </p:blipFill>
        <p:spPr>
          <a:xfrm>
            <a:off x="6347091" y="308610"/>
            <a:ext cx="2034540" cy="2415540"/>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334BA35B-6FD8-B1FF-2028-E5D2FD51A04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9915" y="3265171"/>
            <a:ext cx="2080260" cy="1752600"/>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ADD7EB06-7AD5-D4AF-46D3-9D02DDA49CF6}"/>
              </a:ext>
            </a:extLst>
          </p:cNvPr>
          <p:cNvPicPr>
            <a:picLocks noChangeAspect="1"/>
          </p:cNvPicPr>
          <p:nvPr/>
        </p:nvPicPr>
        <p:blipFill>
          <a:blip r:embed="rId7"/>
          <a:stretch>
            <a:fillRect/>
          </a:stretch>
        </p:blipFill>
        <p:spPr>
          <a:xfrm>
            <a:off x="2488057" y="3265171"/>
            <a:ext cx="2034540" cy="2385060"/>
          </a:xfrm>
          <a:prstGeom prst="rect">
            <a:avLst/>
          </a:prstGeom>
        </p:spPr>
      </p:pic>
      <p:pic>
        <p:nvPicPr>
          <p:cNvPr id="8" name="Picture 7" descr="A black screen with white text&#10;&#10;Description automatically generated">
            <a:extLst>
              <a:ext uri="{FF2B5EF4-FFF2-40B4-BE49-F238E27FC236}">
                <a16:creationId xmlns:a16="http://schemas.microsoft.com/office/drawing/2014/main" id="{D149DF8E-EB94-E621-EDFE-3785792D02D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58940" y="3265171"/>
            <a:ext cx="2065020" cy="1813560"/>
          </a:xfrm>
          <a:prstGeom prst="rect">
            <a:avLst/>
          </a:prstGeom>
        </p:spPr>
      </p:pic>
    </p:spTree>
    <p:extLst>
      <p:ext uri="{BB962C8B-B14F-4D97-AF65-F5344CB8AC3E}">
        <p14:creationId xmlns:p14="http://schemas.microsoft.com/office/powerpoint/2010/main" val="4215043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computer program&#10;&#10;Description automatically generated">
            <a:extLst>
              <a:ext uri="{FF2B5EF4-FFF2-40B4-BE49-F238E27FC236}">
                <a16:creationId xmlns:a16="http://schemas.microsoft.com/office/drawing/2014/main" id="{46E1D9A4-A271-94A1-D6D5-4AE6D65C02A7}"/>
              </a:ext>
            </a:extLst>
          </p:cNvPr>
          <p:cNvPicPr>
            <a:picLocks noChangeAspect="1"/>
          </p:cNvPicPr>
          <p:nvPr/>
        </p:nvPicPr>
        <p:blipFill>
          <a:blip r:embed="rId2"/>
          <a:stretch>
            <a:fillRect/>
          </a:stretch>
        </p:blipFill>
        <p:spPr>
          <a:xfrm>
            <a:off x="491981" y="142935"/>
            <a:ext cx="3360637" cy="2265967"/>
          </a:xfrm>
          <a:prstGeom prst="rect">
            <a:avLst/>
          </a:prstGeom>
        </p:spPr>
      </p:pic>
      <p:pic>
        <p:nvPicPr>
          <p:cNvPr id="3" name="Picture 2" descr="A graph of a function&#10;&#10;Description automatically generated with medium confidence">
            <a:extLst>
              <a:ext uri="{FF2B5EF4-FFF2-40B4-BE49-F238E27FC236}">
                <a16:creationId xmlns:a16="http://schemas.microsoft.com/office/drawing/2014/main" id="{156C1A0C-71B9-7A54-D6E1-82455BD69FFD}"/>
              </a:ext>
            </a:extLst>
          </p:cNvPr>
          <p:cNvPicPr>
            <a:picLocks noChangeAspect="1"/>
          </p:cNvPicPr>
          <p:nvPr/>
        </p:nvPicPr>
        <p:blipFill>
          <a:blip r:embed="rId3"/>
          <a:stretch>
            <a:fillRect/>
          </a:stretch>
        </p:blipFill>
        <p:spPr>
          <a:xfrm>
            <a:off x="5682415" y="441009"/>
            <a:ext cx="2222720" cy="1669818"/>
          </a:xfrm>
          <a:prstGeom prst="rect">
            <a:avLst/>
          </a:prstGeom>
        </p:spPr>
      </p:pic>
      <p:pic>
        <p:nvPicPr>
          <p:cNvPr id="4" name="Picture 3" descr="A graph of a number of lines&#10;&#10;Description automatically generated with medium confidence">
            <a:extLst>
              <a:ext uri="{FF2B5EF4-FFF2-40B4-BE49-F238E27FC236}">
                <a16:creationId xmlns:a16="http://schemas.microsoft.com/office/drawing/2014/main" id="{9760FBF9-6278-45E5-5E31-BC0EC19CB4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635" y="3429000"/>
            <a:ext cx="2699291" cy="2027903"/>
          </a:xfrm>
          <a:prstGeom prst="rect">
            <a:avLst/>
          </a:prstGeom>
        </p:spPr>
      </p:pic>
      <p:pic>
        <p:nvPicPr>
          <p:cNvPr id="5" name="Picture 4" descr="A graph of a function&#10;&#10;Description automatically generated">
            <a:extLst>
              <a:ext uri="{FF2B5EF4-FFF2-40B4-BE49-F238E27FC236}">
                <a16:creationId xmlns:a16="http://schemas.microsoft.com/office/drawing/2014/main" id="{3FAD368B-EE30-5E28-F74E-13C79C4266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95816" y="3429000"/>
            <a:ext cx="2892813" cy="2195052"/>
          </a:xfrm>
          <a:prstGeom prst="rect">
            <a:avLst/>
          </a:prstGeom>
        </p:spPr>
      </p:pic>
      <p:pic>
        <p:nvPicPr>
          <p:cNvPr id="6" name="Picture 5" descr="A graph of a number of lines&#10;&#10;Description automatically generated with medium confidence">
            <a:extLst>
              <a:ext uri="{FF2B5EF4-FFF2-40B4-BE49-F238E27FC236}">
                <a16:creationId xmlns:a16="http://schemas.microsoft.com/office/drawing/2014/main" id="{8BDF5437-8B7A-9591-33E5-29D04ADE58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88629" y="3440498"/>
            <a:ext cx="2917207" cy="2183553"/>
          </a:xfrm>
          <a:prstGeom prst="rect">
            <a:avLst/>
          </a:prstGeom>
        </p:spPr>
      </p:pic>
    </p:spTree>
    <p:extLst>
      <p:ext uri="{BB962C8B-B14F-4D97-AF65-F5344CB8AC3E}">
        <p14:creationId xmlns:p14="http://schemas.microsoft.com/office/powerpoint/2010/main" val="15618521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6A10CAE-99E0-F949-5196-76CDF23E068E}"/>
              </a:ext>
            </a:extLst>
          </p:cNvPr>
          <p:cNvSpPr>
            <a:spLocks noGrp="1"/>
          </p:cNvSpPr>
          <p:nvPr>
            <p:ph type="subTitle" idx="1"/>
          </p:nvPr>
        </p:nvSpPr>
        <p:spPr>
          <a:xfrm>
            <a:off x="0" y="924233"/>
            <a:ext cx="8976852" cy="6563032"/>
          </a:xfrm>
        </p:spPr>
        <p:txBody>
          <a:bodyPr>
            <a:normAutofit fontScale="25000" lnSpcReduction="20000"/>
          </a:bodyPr>
          <a:lstStyle/>
          <a:p>
            <a:pPr algn="l"/>
            <a:r>
              <a:rPr lang="en-US" sz="6400" b="1" dirty="0">
                <a:solidFill>
                  <a:schemeClr val="tx1"/>
                </a:solidFill>
                <a:latin typeface="Arial" panose="020B0604020202020204" pitchFamily="34" charset="0"/>
                <a:cs typeface="Arial" panose="020B0604020202020204" pitchFamily="34" charset="0"/>
              </a:rPr>
              <a:t>Optimal Estimation Under Uncertainty:</a:t>
            </a:r>
            <a:endParaRPr lang="en-US" sz="64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6400" b="1" dirty="0">
                <a:solidFill>
                  <a:schemeClr val="tx1"/>
                </a:solidFill>
                <a:latin typeface="Arial" panose="020B0604020202020204" pitchFamily="34" charset="0"/>
                <a:cs typeface="Arial" panose="020B0604020202020204" pitchFamily="34" charset="0"/>
              </a:rPr>
              <a:t>Accurate State Estimation:</a:t>
            </a:r>
            <a:r>
              <a:rPr lang="en-US" sz="6400" dirty="0">
                <a:solidFill>
                  <a:schemeClr val="tx1"/>
                </a:solidFill>
                <a:latin typeface="Arial" panose="020B0604020202020204" pitchFamily="34" charset="0"/>
                <a:cs typeface="Arial" panose="020B0604020202020204" pitchFamily="34" charset="0"/>
              </a:rPr>
              <a:t> The Kalman filter provides an optimal solution for estimating the system states by minimizing the mean of the squared error, even when the system is influenced by random noise and other uncertainties.</a:t>
            </a:r>
          </a:p>
          <a:p>
            <a:pPr algn="l">
              <a:buFont typeface="Arial" panose="020B0604020202020204" pitchFamily="34" charset="0"/>
              <a:buChar char="•"/>
            </a:pPr>
            <a:r>
              <a:rPr lang="en-US" sz="6400" b="1" dirty="0">
                <a:solidFill>
                  <a:schemeClr val="tx1"/>
                </a:solidFill>
                <a:latin typeface="Arial" panose="020B0604020202020204" pitchFamily="34" charset="0"/>
                <a:cs typeface="Arial" panose="020B0604020202020204" pitchFamily="34" charset="0"/>
              </a:rPr>
              <a:t>Dynamic Adaptation:</a:t>
            </a:r>
            <a:r>
              <a:rPr lang="en-US" sz="6400" dirty="0">
                <a:solidFill>
                  <a:schemeClr val="tx1"/>
                </a:solidFill>
                <a:latin typeface="Arial" panose="020B0604020202020204" pitchFamily="34" charset="0"/>
                <a:cs typeface="Arial" panose="020B0604020202020204" pitchFamily="34" charset="0"/>
              </a:rPr>
              <a:t> It continuously updates its estimates based on incoming measurements, making it highly effective in dynamic environments where system parameters may change or where noise characteristics are not static.</a:t>
            </a:r>
          </a:p>
          <a:p>
            <a:pPr algn="l">
              <a:buFont typeface="Arial" panose="020B0604020202020204" pitchFamily="34" charset="0"/>
              <a:buChar char="•"/>
            </a:pPr>
            <a:endParaRPr lang="en-US" sz="64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endParaRPr lang="en-US" sz="6400" dirty="0">
              <a:solidFill>
                <a:schemeClr val="tx1"/>
              </a:solidFill>
              <a:latin typeface="Arial" panose="020B0604020202020204" pitchFamily="34" charset="0"/>
              <a:cs typeface="Arial" panose="020B0604020202020204" pitchFamily="34" charset="0"/>
            </a:endParaRPr>
          </a:p>
          <a:p>
            <a:pPr algn="l"/>
            <a:r>
              <a:rPr lang="en-US" sz="6400" b="1" dirty="0">
                <a:solidFill>
                  <a:schemeClr val="tx1"/>
                </a:solidFill>
                <a:latin typeface="Arial" panose="020B0604020202020204" pitchFamily="34" charset="0"/>
                <a:cs typeface="Arial" panose="020B0604020202020204" pitchFamily="34" charset="0"/>
              </a:rPr>
              <a:t>Noise and Disturbance Management:</a:t>
            </a:r>
            <a:endParaRPr lang="en-US" sz="64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6400" b="1" dirty="0">
                <a:solidFill>
                  <a:schemeClr val="tx1"/>
                </a:solidFill>
                <a:latin typeface="Arial" panose="020B0604020202020204" pitchFamily="34" charset="0"/>
                <a:cs typeface="Arial" panose="020B0604020202020204" pitchFamily="34" charset="0"/>
              </a:rPr>
              <a:t>Noise Filtering:</a:t>
            </a:r>
            <a:r>
              <a:rPr lang="en-US" sz="6400" dirty="0">
                <a:solidFill>
                  <a:schemeClr val="tx1"/>
                </a:solidFill>
                <a:latin typeface="Arial" panose="020B0604020202020204" pitchFamily="34" charset="0"/>
                <a:cs typeface="Arial" panose="020B0604020202020204" pitchFamily="34" charset="0"/>
              </a:rPr>
              <a:t> The Kalman filter excels in situations where the system is subject to significant measurement noise (v) and process disturbances (w). It effectively separates the true system states from noise, improving control accuracy.</a:t>
            </a:r>
          </a:p>
          <a:p>
            <a:pPr algn="l">
              <a:buFont typeface="Arial" panose="020B0604020202020204" pitchFamily="34" charset="0"/>
              <a:buChar char="•"/>
            </a:pPr>
            <a:r>
              <a:rPr lang="en-US" sz="6400" b="1" dirty="0">
                <a:solidFill>
                  <a:schemeClr val="tx1"/>
                </a:solidFill>
                <a:latin typeface="Arial" panose="020B0604020202020204" pitchFamily="34" charset="0"/>
                <a:cs typeface="Arial" panose="020B0604020202020204" pitchFamily="34" charset="0"/>
              </a:rPr>
              <a:t>Handling White Noise:</a:t>
            </a:r>
            <a:r>
              <a:rPr lang="en-US" sz="6400" dirty="0">
                <a:solidFill>
                  <a:schemeClr val="tx1"/>
                </a:solidFill>
                <a:latin typeface="Arial" panose="020B0604020202020204" pitchFamily="34" charset="0"/>
                <a:cs typeface="Arial" panose="020B0604020202020204" pitchFamily="34" charset="0"/>
              </a:rPr>
              <a:t> Given that both w (process noise) and v (measurement noise) are modeled as white noise in your system, the Kalman filter is particularly suitable as it is designed to optimally estimate the states from such noise characteristics.</a:t>
            </a:r>
          </a:p>
          <a:p>
            <a:pPr algn="l">
              <a:buFont typeface="Arial" panose="020B0604020202020204" pitchFamily="34" charset="0"/>
              <a:buChar char="•"/>
            </a:pPr>
            <a:endParaRPr lang="en-US" sz="6400" dirty="0">
              <a:solidFill>
                <a:schemeClr val="tx1"/>
              </a:solidFill>
              <a:latin typeface="Arial" panose="020B0604020202020204" pitchFamily="34" charset="0"/>
              <a:cs typeface="Arial" panose="020B0604020202020204" pitchFamily="34" charset="0"/>
            </a:endParaRPr>
          </a:p>
          <a:p>
            <a:pPr algn="l"/>
            <a:r>
              <a:rPr lang="en-US" sz="6400" b="1" dirty="0">
                <a:solidFill>
                  <a:schemeClr val="tx1"/>
                </a:solidFill>
                <a:latin typeface="Arial" panose="020B0604020202020204" pitchFamily="34" charset="0"/>
                <a:cs typeface="Arial" panose="020B0604020202020204" pitchFamily="34" charset="0"/>
              </a:rPr>
              <a:t>Improved System Performance:</a:t>
            </a:r>
            <a:endParaRPr lang="en-US" sz="64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6400" b="1" dirty="0">
                <a:solidFill>
                  <a:schemeClr val="tx1"/>
                </a:solidFill>
                <a:latin typeface="Arial" panose="020B0604020202020204" pitchFamily="34" charset="0"/>
                <a:cs typeface="Arial" panose="020B0604020202020204" pitchFamily="34" charset="0"/>
              </a:rPr>
              <a:t>Enhanced Control Precision:</a:t>
            </a:r>
            <a:r>
              <a:rPr lang="en-US" sz="6400" dirty="0">
                <a:solidFill>
                  <a:schemeClr val="tx1"/>
                </a:solidFill>
                <a:latin typeface="Arial" panose="020B0604020202020204" pitchFamily="34" charset="0"/>
                <a:cs typeface="Arial" panose="020B0604020202020204" pitchFamily="34" charset="0"/>
              </a:rPr>
              <a:t> By providing accurate state estimates, the Kalman filter allows the control system to respond more effectively to deviations from desired performance, thus enhancing overall system precision and reliability.</a:t>
            </a:r>
          </a:p>
          <a:p>
            <a:pPr algn="l">
              <a:buFont typeface="Arial" panose="020B0604020202020204" pitchFamily="34" charset="0"/>
              <a:buChar char="•"/>
            </a:pPr>
            <a:r>
              <a:rPr lang="en-US" sz="6400" b="1" dirty="0">
                <a:solidFill>
                  <a:schemeClr val="tx1"/>
                </a:solidFill>
                <a:latin typeface="Arial" panose="020B0604020202020204" pitchFamily="34" charset="0"/>
                <a:cs typeface="Arial" panose="020B0604020202020204" pitchFamily="34" charset="0"/>
              </a:rPr>
              <a:t>Stability in Feedback Systems:</a:t>
            </a:r>
            <a:r>
              <a:rPr lang="en-US" sz="6400" dirty="0">
                <a:solidFill>
                  <a:schemeClr val="tx1"/>
                </a:solidFill>
                <a:latin typeface="Arial" panose="020B0604020202020204" pitchFamily="34" charset="0"/>
                <a:cs typeface="Arial" panose="020B0604020202020204" pitchFamily="34" charset="0"/>
              </a:rPr>
              <a:t> In systems with feedback loops, accurate state estimation is critical for maintaining stability. The Kalman filter helps prevent the amplification of errors in the feedback path, thereby supporting system stability.</a:t>
            </a:r>
          </a:p>
          <a:p>
            <a:endParaRPr lang="en-US" dirty="0"/>
          </a:p>
        </p:txBody>
      </p:sp>
    </p:spTree>
    <p:extLst>
      <p:ext uri="{BB962C8B-B14F-4D97-AF65-F5344CB8AC3E}">
        <p14:creationId xmlns:p14="http://schemas.microsoft.com/office/powerpoint/2010/main" val="576938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D1D8A30-5548-9676-3095-C6A91435F26C}"/>
              </a:ext>
            </a:extLst>
          </p:cNvPr>
          <p:cNvSpPr>
            <a:spLocks noGrp="1"/>
          </p:cNvSpPr>
          <p:nvPr>
            <p:ph type="subTitle" idx="1"/>
          </p:nvPr>
        </p:nvSpPr>
        <p:spPr>
          <a:xfrm>
            <a:off x="319547" y="1900084"/>
            <a:ext cx="7880555" cy="3360174"/>
          </a:xfrm>
        </p:spPr>
        <p:txBody>
          <a:bodyPr>
            <a:normAutofit fontScale="47500" lnSpcReduction="20000"/>
          </a:bodyPr>
          <a:lstStyle/>
          <a:p>
            <a:pPr algn="l"/>
            <a:r>
              <a:rPr lang="en-US" sz="3200" b="1" dirty="0">
                <a:solidFill>
                  <a:schemeClr val="tx1"/>
                </a:solidFill>
                <a:latin typeface="Arial" panose="020B0604020202020204" pitchFamily="34" charset="0"/>
                <a:cs typeface="Arial" panose="020B0604020202020204" pitchFamily="34" charset="0"/>
              </a:rPr>
              <a:t>Scenarios Justifying Kalman Filter Implementation:</a:t>
            </a:r>
            <a:endParaRPr lang="en-US" sz="32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3200" b="1" dirty="0">
                <a:solidFill>
                  <a:schemeClr val="tx1"/>
                </a:solidFill>
                <a:latin typeface="Arial" panose="020B0604020202020204" pitchFamily="34" charset="0"/>
                <a:cs typeface="Arial" panose="020B0604020202020204" pitchFamily="34" charset="0"/>
              </a:rPr>
              <a:t>Complex Dynamics:</a:t>
            </a:r>
            <a:r>
              <a:rPr lang="en-US" sz="3200" dirty="0">
                <a:solidFill>
                  <a:schemeClr val="tx1"/>
                </a:solidFill>
                <a:latin typeface="Arial" panose="020B0604020202020204" pitchFamily="34" charset="0"/>
                <a:cs typeface="Arial" panose="020B0604020202020204" pitchFamily="34" charset="0"/>
              </a:rPr>
              <a:t> For systems with complex dynamics and multiple interacting states, like your crane control system with its variable load mass and cable dynamics, the Kalman filter can systematically handle the complexities and provide clear state estimations.</a:t>
            </a:r>
          </a:p>
          <a:p>
            <a:pPr algn="l">
              <a:buFont typeface="Arial" panose="020B0604020202020204" pitchFamily="34" charset="0"/>
              <a:buChar char="•"/>
            </a:pPr>
            <a:r>
              <a:rPr lang="en-US" sz="3200" b="1" dirty="0">
                <a:solidFill>
                  <a:schemeClr val="tx1"/>
                </a:solidFill>
                <a:latin typeface="Arial" panose="020B0604020202020204" pitchFamily="34" charset="0"/>
                <a:cs typeface="Arial" panose="020B0604020202020204" pitchFamily="34" charset="0"/>
              </a:rPr>
              <a:t>High Uncertainty and Noise Levels:</a:t>
            </a:r>
            <a:r>
              <a:rPr lang="en-US" sz="3200" dirty="0">
                <a:solidFill>
                  <a:schemeClr val="tx1"/>
                </a:solidFill>
                <a:latin typeface="Arial" panose="020B0604020202020204" pitchFamily="34" charset="0"/>
                <a:cs typeface="Arial" panose="020B0604020202020204" pitchFamily="34" charset="0"/>
              </a:rPr>
              <a:t> Whenever there's high uncertainty in system measurements and significant external disturbances affecting the system, using a Kalman filter becomes beneficial to achieve reliable control actions based on the most probable current state of the system.</a:t>
            </a:r>
          </a:p>
          <a:p>
            <a:pPr algn="l"/>
            <a:r>
              <a:rPr lang="en-US" sz="3200" b="1" dirty="0">
                <a:solidFill>
                  <a:schemeClr val="tx1"/>
                </a:solidFill>
                <a:latin typeface="Arial" panose="020B0604020202020204" pitchFamily="34" charset="0"/>
                <a:cs typeface="Arial" panose="020B0604020202020204" pitchFamily="34" charset="0"/>
              </a:rPr>
              <a:t>Cost-Effectiveness:</a:t>
            </a:r>
            <a:endParaRPr lang="en-US" sz="32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3200" b="1" dirty="0">
                <a:solidFill>
                  <a:schemeClr val="tx1"/>
                </a:solidFill>
                <a:latin typeface="Arial" panose="020B0604020202020204" pitchFamily="34" charset="0"/>
                <a:cs typeface="Arial" panose="020B0604020202020204" pitchFamily="34" charset="0"/>
              </a:rPr>
              <a:t>Reduction of Control Effort:</a:t>
            </a:r>
            <a:r>
              <a:rPr lang="en-US" sz="3200" dirty="0">
                <a:solidFill>
                  <a:schemeClr val="tx1"/>
                </a:solidFill>
                <a:latin typeface="Arial" panose="020B0604020202020204" pitchFamily="34" charset="0"/>
                <a:cs typeface="Arial" panose="020B0604020202020204" pitchFamily="34" charset="0"/>
              </a:rPr>
              <a:t> By accurately estimating system states, the Kalman filter can reduce unnecessary control efforts, which in turn minimizes wear and energy consumption, leading to cost savings in long-term operations.</a:t>
            </a:r>
          </a:p>
          <a:p>
            <a:pPr algn="l">
              <a:buFont typeface="Arial" panose="020B0604020202020204" pitchFamily="34" charset="0"/>
              <a:buChar char="•"/>
            </a:pPr>
            <a:r>
              <a:rPr lang="en-US" sz="3200" b="1" dirty="0">
                <a:solidFill>
                  <a:schemeClr val="tx1"/>
                </a:solidFill>
                <a:latin typeface="Arial" panose="020B0604020202020204" pitchFamily="34" charset="0"/>
                <a:cs typeface="Arial" panose="020B0604020202020204" pitchFamily="34" charset="0"/>
              </a:rPr>
              <a:t>Resource Optimization:</a:t>
            </a:r>
            <a:r>
              <a:rPr lang="en-US" sz="3200" dirty="0">
                <a:solidFill>
                  <a:schemeClr val="tx1"/>
                </a:solidFill>
                <a:latin typeface="Arial" panose="020B0604020202020204" pitchFamily="34" charset="0"/>
                <a:cs typeface="Arial" panose="020B0604020202020204" pitchFamily="34" charset="0"/>
              </a:rPr>
              <a:t> The improved accuracy and reliability in state estimation allow for better resource allocation and scheduling in industrial applications, optimizing operational efficiency.</a:t>
            </a:r>
          </a:p>
          <a:p>
            <a:endParaRPr lang="en-US" dirty="0"/>
          </a:p>
        </p:txBody>
      </p:sp>
    </p:spTree>
    <p:extLst>
      <p:ext uri="{BB962C8B-B14F-4D97-AF65-F5344CB8AC3E}">
        <p14:creationId xmlns:p14="http://schemas.microsoft.com/office/powerpoint/2010/main" val="346497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4F0CC-4DF1-F40E-0A11-5949D75688A2}"/>
              </a:ext>
            </a:extLst>
          </p:cNvPr>
          <p:cNvSpPr>
            <a:spLocks noGrp="1"/>
          </p:cNvSpPr>
          <p:nvPr>
            <p:ph type="ctrTitle"/>
          </p:nvPr>
        </p:nvSpPr>
        <p:spPr>
          <a:xfrm>
            <a:off x="393291" y="208322"/>
            <a:ext cx="8495070" cy="1160820"/>
          </a:xfrm>
        </p:spPr>
        <p:txBody>
          <a:bodyPr>
            <a:normAutofit fontScale="90000"/>
          </a:bodyPr>
          <a:lstStyle/>
          <a:p>
            <a:r>
              <a:rPr lang="en-IN" dirty="0"/>
              <a:t>System Design with Restrictions</a:t>
            </a:r>
            <a:endParaRPr lang="en-US" dirty="0"/>
          </a:p>
        </p:txBody>
      </p:sp>
      <p:sp>
        <p:nvSpPr>
          <p:cNvPr id="3" name="Subtitle 2">
            <a:extLst>
              <a:ext uri="{FF2B5EF4-FFF2-40B4-BE49-F238E27FC236}">
                <a16:creationId xmlns:a16="http://schemas.microsoft.com/office/drawing/2014/main" id="{58A1FFF2-5594-71E0-2085-5B752570272C}"/>
              </a:ext>
            </a:extLst>
          </p:cNvPr>
          <p:cNvSpPr>
            <a:spLocks noGrp="1"/>
          </p:cNvSpPr>
          <p:nvPr>
            <p:ph type="subTitle" idx="1"/>
          </p:nvPr>
        </p:nvSpPr>
        <p:spPr>
          <a:xfrm>
            <a:off x="0" y="1369142"/>
            <a:ext cx="9144000" cy="5488858"/>
          </a:xfrm>
        </p:spPr>
        <p:txBody>
          <a:bodyPr>
            <a:normAutofit fontScale="25000" lnSpcReduction="20000"/>
          </a:bodyPr>
          <a:lstStyle/>
          <a:p>
            <a:pPr marL="0" marR="0" algn="l">
              <a:lnSpc>
                <a:spcPct val="115000"/>
              </a:lnSpc>
              <a:spcAft>
                <a:spcPts val="800"/>
              </a:spcAft>
            </a:pP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The system's behavior under disturbances and noise is analyzed. Robust control strategies are evaluated to ensure stability and performance.</a:t>
            </a:r>
            <a:b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b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The purpose of this question is to design a system that moves a certain load from one place to another in the shortest time.</a:t>
            </a:r>
          </a:p>
          <a:p>
            <a:pPr marL="0" marR="0" algn="l">
              <a:lnSpc>
                <a:spcPct val="115000"/>
              </a:lnSpc>
              <a:spcAft>
                <a:spcPts val="800"/>
              </a:spcAft>
            </a:pP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For this exercise, we will assume the following parameters:</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5600" b="1"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Mass of the cart (M)</a:t>
            </a: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 400 kg</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5600" b="1"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Mass of the load (m)</a:t>
            </a: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 600 kg</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5600" b="1"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Length of the cable (L)</a:t>
            </a: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 4 m</a:t>
            </a:r>
          </a:p>
          <a:p>
            <a:pPr marL="0" marR="0" algn="l">
              <a:lnSpc>
                <a:spcPct val="115000"/>
              </a:lnSpc>
              <a:spcAft>
                <a:spcPts val="800"/>
              </a:spcAft>
            </a:pP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It is necessary to design an </a:t>
            </a:r>
            <a:r>
              <a:rPr lang="en-US" sz="5600" b="1"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optimal controller</a:t>
            </a: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 and an </a:t>
            </a:r>
            <a:r>
              <a:rPr lang="en-US" sz="5600" b="1"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observer</a:t>
            </a: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 (not necessarily optimal) for the </a:t>
            </a:r>
            <a:r>
              <a:rPr lang="en-US" sz="5600" b="1"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linear system</a:t>
            </a: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 which will also work with the </a:t>
            </a:r>
            <a:r>
              <a:rPr lang="en-US" sz="5600" b="1"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nonlinear system</a:t>
            </a: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 The nonlinear system starts near the origin equilibrium point.</a:t>
            </a:r>
          </a:p>
          <a:p>
            <a:pPr marL="0" marR="0" algn="l">
              <a:lnSpc>
                <a:spcPct val="115000"/>
              </a:lnSpc>
              <a:spcAft>
                <a:spcPts val="800"/>
              </a:spcAft>
            </a:pP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Using the appropriate input, the nonlinear system (the hook) must be brought to position y=−5 meters and then wait until the hook oscillations (swinging) are dampened enough (the hook does not swing more than ±15cm). Then, the system should move to y=+5 meters and wait until the swinging is small enough. You must design the appropriate </a:t>
            </a:r>
            <a:r>
              <a:rPr lang="en-US" sz="5600" b="1"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reference input signal</a:t>
            </a: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a:t>
            </a:r>
          </a:p>
          <a:p>
            <a:pPr marL="0" marR="0" algn="l">
              <a:lnSpc>
                <a:spcPct val="115000"/>
              </a:lnSpc>
              <a:spcAft>
                <a:spcPts val="800"/>
              </a:spcAft>
            </a:pP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Time is calculated from the moment the cart motion starts from the origin to the arrival of the load to y=+5meters. Additional limitations are:</a:t>
            </a:r>
          </a:p>
          <a:p>
            <a:pPr marL="342900" marR="0" lvl="0" indent="-342900" algn="l">
              <a:lnSpc>
                <a:spcPct val="115000"/>
              </a:lnSpc>
              <a:spcAft>
                <a:spcPts val="800"/>
              </a:spcAft>
              <a:buSzPts val="1000"/>
              <a:buFont typeface="Symbol" panose="05050102010706020507" pitchFamily="18" charset="2"/>
              <a:buChar char=""/>
              <a:tabLst>
                <a:tab pos="457200" algn="l"/>
              </a:tabLst>
            </a:pP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∣u∣&lt;500, ∣</a:t>
            </a:r>
            <a:r>
              <a:rPr lang="en-US" sz="5600" kern="100" dirty="0" err="1">
                <a:solidFill>
                  <a:schemeClr val="tx1"/>
                </a:solidFill>
                <a:effectLst/>
                <a:latin typeface="Arial" panose="020B0604020202020204" pitchFamily="34" charset="0"/>
                <a:ea typeface="Aptos" panose="020B0004020202020204" pitchFamily="34" charset="0"/>
                <a:cs typeface="Arial" panose="020B0604020202020204" pitchFamily="34" charset="0"/>
              </a:rPr>
              <a:t>u_dot</a:t>
            </a:r>
            <a:r>
              <a:rPr lang="en-US" sz="5600" kern="100" dirty="0">
                <a:solidFill>
                  <a:schemeClr val="tx1"/>
                </a:solidFill>
                <a:effectLst/>
                <a:latin typeface="Arial" panose="020B0604020202020204" pitchFamily="34" charset="0"/>
                <a:ea typeface="Aptos" panose="020B0004020202020204" pitchFamily="34" charset="0"/>
                <a:cs typeface="Arial" panose="020B0604020202020204" pitchFamily="34" charset="0"/>
              </a:rPr>
              <a:t>∣&lt;500 ; Overshoot &lt;50%</a:t>
            </a:r>
          </a:p>
          <a:p>
            <a:endParaRPr lang="en-US" dirty="0"/>
          </a:p>
        </p:txBody>
      </p:sp>
    </p:spTree>
    <p:extLst>
      <p:ext uri="{BB962C8B-B14F-4D97-AF65-F5344CB8AC3E}">
        <p14:creationId xmlns:p14="http://schemas.microsoft.com/office/powerpoint/2010/main" val="26109260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A diagram of a load position&#10;&#10;Description automatically generated with medium confidence">
            <a:extLst>
              <a:ext uri="{FF2B5EF4-FFF2-40B4-BE49-F238E27FC236}">
                <a16:creationId xmlns:a16="http://schemas.microsoft.com/office/drawing/2014/main" id="{6387C0A6-3ED8-A2E6-A3E8-B01A15E5D2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517" y="2114282"/>
            <a:ext cx="3886315" cy="2885589"/>
          </a:xfrm>
          <a:prstGeom prst="rect">
            <a:avLst/>
          </a:prstGeom>
        </p:spPr>
      </p:pic>
      <p:pic>
        <p:nvPicPr>
          <p:cNvPr id="3" name="Picture 2" descr="A diagram of a graph&#10;&#10;Description automatically generated with medium confidence">
            <a:extLst>
              <a:ext uri="{FF2B5EF4-FFF2-40B4-BE49-F238E27FC236}">
                <a16:creationId xmlns:a16="http://schemas.microsoft.com/office/drawing/2014/main" id="{53E3DFC4-49D5-F090-8ADB-61E9745EA8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5211" y="2110814"/>
            <a:ext cx="3909965" cy="2893373"/>
          </a:xfrm>
          <a:prstGeom prst="rect">
            <a:avLst/>
          </a:prstGeom>
        </p:spPr>
      </p:pic>
    </p:spTree>
    <p:extLst>
      <p:ext uri="{BB962C8B-B14F-4D97-AF65-F5344CB8AC3E}">
        <p14:creationId xmlns:p14="http://schemas.microsoft.com/office/powerpoint/2010/main" val="2972674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40524-39BD-BC1E-726D-74EB5961AB7B}"/>
              </a:ext>
            </a:extLst>
          </p:cNvPr>
          <p:cNvSpPr>
            <a:spLocks noGrp="1"/>
          </p:cNvSpPr>
          <p:nvPr>
            <p:ph type="ctrTitle"/>
          </p:nvPr>
        </p:nvSpPr>
        <p:spPr>
          <a:xfrm>
            <a:off x="1075133" y="2767106"/>
            <a:ext cx="2160621" cy="3071906"/>
          </a:xfrm>
        </p:spPr>
        <p:txBody>
          <a:bodyPr anchor="t">
            <a:normAutofit/>
          </a:bodyPr>
          <a:lstStyle/>
          <a:p>
            <a:pPr algn="l"/>
            <a:r>
              <a:rPr lang="en-IN" sz="3500" dirty="0">
                <a:solidFill>
                  <a:srgbClr val="FFFFFF"/>
                </a:solidFill>
              </a:rPr>
              <a:t>Control System Design </a:t>
            </a:r>
            <a:endParaRPr lang="en-US" sz="3500" dirty="0">
              <a:solidFill>
                <a:srgbClr val="FFFFFF"/>
              </a:solidFill>
            </a:endParaRPr>
          </a:p>
        </p:txBody>
      </p:sp>
      <p:sp>
        <p:nvSpPr>
          <p:cNvPr id="3" name="Subtitle 2">
            <a:extLst>
              <a:ext uri="{FF2B5EF4-FFF2-40B4-BE49-F238E27FC236}">
                <a16:creationId xmlns:a16="http://schemas.microsoft.com/office/drawing/2014/main" id="{B9CCA20A-2ACB-CF2B-107A-9F7AADEA2FCF}"/>
              </a:ext>
            </a:extLst>
          </p:cNvPr>
          <p:cNvSpPr>
            <a:spLocks noGrp="1"/>
          </p:cNvSpPr>
          <p:nvPr>
            <p:ph type="subTitle" idx="1"/>
          </p:nvPr>
        </p:nvSpPr>
        <p:spPr>
          <a:xfrm>
            <a:off x="934066" y="1303065"/>
            <a:ext cx="2189804" cy="1494117"/>
          </a:xfrm>
        </p:spPr>
        <p:txBody>
          <a:bodyPr anchor="b">
            <a:normAutofit/>
          </a:bodyPr>
          <a:lstStyle/>
          <a:p>
            <a:pPr algn="l">
              <a:lnSpc>
                <a:spcPct val="90000"/>
              </a:lnSpc>
            </a:pPr>
            <a:r>
              <a:rPr lang="en-IN" sz="1400" dirty="0">
                <a:latin typeface="Arial" panose="020B0604020202020204" pitchFamily="34" charset="0"/>
                <a:cs typeface="Arial" panose="020B0604020202020204" pitchFamily="34" charset="0"/>
              </a:rPr>
              <a:t>Here we will design a system with original values of constants making the system stable by implementing controller and observer.</a:t>
            </a:r>
            <a:endParaRPr lang="en-US" sz="1400" dirty="0">
              <a:latin typeface="Arial" panose="020B0604020202020204" pitchFamily="34" charset="0"/>
              <a:cs typeface="Arial" panose="020B0604020202020204" pitchFamily="34" charset="0"/>
            </a:endParaRPr>
          </a:p>
        </p:txBody>
      </p:sp>
      <p:pic>
        <p:nvPicPr>
          <p:cNvPr id="4" name="Picture 3" descr="A graph of a graph of a graph&#10;&#10;Description automatically generated with medium confidence">
            <a:extLst>
              <a:ext uri="{FF2B5EF4-FFF2-40B4-BE49-F238E27FC236}">
                <a16:creationId xmlns:a16="http://schemas.microsoft.com/office/drawing/2014/main" id="{A0A091CD-5E64-383B-1483-C373AF9F8E8C}"/>
              </a:ext>
            </a:extLst>
          </p:cNvPr>
          <p:cNvPicPr>
            <a:picLocks noChangeAspect="1"/>
          </p:cNvPicPr>
          <p:nvPr/>
        </p:nvPicPr>
        <p:blipFill>
          <a:blip r:embed="rId2"/>
          <a:stretch>
            <a:fillRect/>
          </a:stretch>
        </p:blipFill>
        <p:spPr>
          <a:xfrm>
            <a:off x="3376821" y="1403657"/>
            <a:ext cx="5419311" cy="4050686"/>
          </a:xfrm>
          <a:prstGeom prst="rect">
            <a:avLst/>
          </a:prstGeom>
        </p:spPr>
      </p:pic>
    </p:spTree>
    <p:extLst>
      <p:ext uri="{BB962C8B-B14F-4D97-AF65-F5344CB8AC3E}">
        <p14:creationId xmlns:p14="http://schemas.microsoft.com/office/powerpoint/2010/main" val="6160510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47252"/>
          </a:xfrm>
        </p:spPr>
        <p:txBody>
          <a:bodyPr>
            <a:normAutofit/>
          </a:bodyPr>
          <a:lstStyle/>
          <a:p>
            <a:r>
              <a:rPr lang="en-US" dirty="0"/>
              <a:t>Conclusion</a:t>
            </a:r>
          </a:p>
        </p:txBody>
      </p:sp>
      <p:sp>
        <p:nvSpPr>
          <p:cNvPr id="3" name="Content Placeholder 2"/>
          <p:cNvSpPr>
            <a:spLocks noGrp="1"/>
          </p:cNvSpPr>
          <p:nvPr>
            <p:ph idx="1"/>
          </p:nvPr>
        </p:nvSpPr>
        <p:spPr>
          <a:xfrm>
            <a:off x="457200" y="1315065"/>
            <a:ext cx="8229600" cy="4525963"/>
          </a:xfrm>
        </p:spPr>
        <p:txBody>
          <a:bodyPr>
            <a:normAutofit/>
          </a:bodyPr>
          <a:lstStyle/>
          <a:p>
            <a:pPr>
              <a:buFont typeface="Arial" panose="020B0604020202020204" pitchFamily="34" charset="0"/>
              <a:buChar char="•"/>
            </a:pPr>
            <a:r>
              <a:rPr lang="en-US" sz="1700" b="1" dirty="0">
                <a:latin typeface="Arial" panose="020B0604020202020204" pitchFamily="34" charset="0"/>
                <a:cs typeface="Arial" panose="020B0604020202020204" pitchFamily="34" charset="0"/>
              </a:rPr>
              <a:t>Optimal Control Analysis:</a:t>
            </a:r>
            <a:r>
              <a:rPr lang="en-US" sz="1700" dirty="0">
                <a:latin typeface="Arial" panose="020B0604020202020204" pitchFamily="34" charset="0"/>
                <a:cs typeface="Arial" panose="020B0604020202020204" pitchFamily="34" charset="0"/>
              </a:rPr>
              <a:t> The exploration of six different optimal controllers has illustrated the impact of varying the control penalty matrix Q and scalar p on the system's cost function J. Each configuration was evaluated to determine how well it minimized control efforts and system state deviations.</a:t>
            </a:r>
          </a:p>
          <a:p>
            <a:pPr>
              <a:buFont typeface="Arial" panose="020B0604020202020204" pitchFamily="34" charset="0"/>
              <a:buChar char="•"/>
            </a:pPr>
            <a:r>
              <a:rPr lang="en-US" sz="1700" b="1" dirty="0">
                <a:latin typeface="Arial" panose="020B0604020202020204" pitchFamily="34" charset="0"/>
                <a:cs typeface="Arial" panose="020B0604020202020204" pitchFamily="34" charset="0"/>
              </a:rPr>
              <a:t>Stability and Performance:</a:t>
            </a:r>
            <a:r>
              <a:rPr lang="en-US" sz="1700" dirty="0">
                <a:latin typeface="Arial" panose="020B0604020202020204" pitchFamily="34" charset="0"/>
                <a:cs typeface="Arial" panose="020B0604020202020204" pitchFamily="34" charset="0"/>
              </a:rPr>
              <a:t> Stability analysis through closed-loop eigenvalues confirmed that the designed controllers maintained system stability across all tested scenarios. This demonstrates the robustness and reliability of the control strategies under varying conditions.</a:t>
            </a:r>
          </a:p>
          <a:p>
            <a:pPr>
              <a:buFont typeface="Arial" panose="020B0604020202020204" pitchFamily="34" charset="0"/>
              <a:buChar char="•"/>
            </a:pPr>
            <a:r>
              <a:rPr lang="en-US" sz="1700" b="1" dirty="0">
                <a:latin typeface="Arial" panose="020B0604020202020204" pitchFamily="34" charset="0"/>
                <a:cs typeface="Arial" panose="020B0604020202020204" pitchFamily="34" charset="0"/>
              </a:rPr>
              <a:t>Superiority of Kalman Filter:</a:t>
            </a:r>
            <a:r>
              <a:rPr lang="en-US" sz="1700" dirty="0">
                <a:latin typeface="Arial" panose="020B0604020202020204" pitchFamily="34" charset="0"/>
                <a:cs typeface="Arial" panose="020B0604020202020204" pitchFamily="34" charset="0"/>
              </a:rPr>
              <a:t> The comparison between the Kalman filter and a standard observer L1​ in handling uncertainties showed the Kalman filter’s superior capability in noise filtering and accurate state estimation. This was particularly evident in environments with high levels of disturbances and process noise.</a:t>
            </a:r>
          </a:p>
          <a:p>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3A78E03-2879-A0BE-8977-6B8B73DDC7F1}"/>
              </a:ext>
            </a:extLst>
          </p:cNvPr>
          <p:cNvSpPr>
            <a:spLocks noGrp="1"/>
          </p:cNvSpPr>
          <p:nvPr>
            <p:ph type="subTitle" idx="1"/>
          </p:nvPr>
        </p:nvSpPr>
        <p:spPr>
          <a:xfrm>
            <a:off x="108155" y="1140542"/>
            <a:ext cx="9035845" cy="5574890"/>
          </a:xfrm>
        </p:spPr>
        <p:txBody>
          <a:bodyPr>
            <a:normAutofit fontScale="47500" lnSpcReduction="20000"/>
          </a:bodyPr>
          <a:lstStyle/>
          <a:p>
            <a:pPr algn="l"/>
            <a:r>
              <a:rPr lang="en-US" sz="3400" b="1" dirty="0">
                <a:solidFill>
                  <a:schemeClr val="tx1"/>
                </a:solidFill>
                <a:latin typeface="Arial" panose="020B0604020202020204" pitchFamily="34" charset="0"/>
                <a:cs typeface="Arial" panose="020B0604020202020204" pitchFamily="34" charset="0"/>
              </a:rPr>
              <a:t>Effectiveness of Kalman Filter:</a:t>
            </a:r>
            <a:endParaRPr lang="en-US" sz="34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3400" b="1" dirty="0">
                <a:solidFill>
                  <a:schemeClr val="tx1"/>
                </a:solidFill>
                <a:latin typeface="Arial" panose="020B0604020202020204" pitchFamily="34" charset="0"/>
                <a:cs typeface="Arial" panose="020B0604020202020204" pitchFamily="34" charset="0"/>
              </a:rPr>
              <a:t>Enhanced System Accuracy:</a:t>
            </a:r>
            <a:r>
              <a:rPr lang="en-US" sz="3400" dirty="0">
                <a:solidFill>
                  <a:schemeClr val="tx1"/>
                </a:solidFill>
                <a:latin typeface="Arial" panose="020B0604020202020204" pitchFamily="34" charset="0"/>
                <a:cs typeface="Arial" panose="020B0604020202020204" pitchFamily="34" charset="0"/>
              </a:rPr>
              <a:t> The Kalman filter’s dynamic adaptation to incoming data and its optimal estimation capabilities have significantly improved the accuracy of state predictions, leading to more effective control actions.</a:t>
            </a:r>
          </a:p>
          <a:p>
            <a:pPr algn="l">
              <a:buFont typeface="Arial" panose="020B0604020202020204" pitchFamily="34" charset="0"/>
              <a:buChar char="•"/>
            </a:pPr>
            <a:r>
              <a:rPr lang="en-US" sz="3400" b="1" dirty="0">
                <a:solidFill>
                  <a:schemeClr val="tx1"/>
                </a:solidFill>
                <a:latin typeface="Arial" panose="020B0604020202020204" pitchFamily="34" charset="0"/>
                <a:cs typeface="Arial" panose="020B0604020202020204" pitchFamily="34" charset="0"/>
              </a:rPr>
              <a:t>Operational Efficiency:</a:t>
            </a:r>
            <a:r>
              <a:rPr lang="en-US" sz="3400" dirty="0">
                <a:solidFill>
                  <a:schemeClr val="tx1"/>
                </a:solidFill>
                <a:latin typeface="Arial" panose="020B0604020202020204" pitchFamily="34" charset="0"/>
                <a:cs typeface="Arial" panose="020B0604020202020204" pitchFamily="34" charset="0"/>
              </a:rPr>
              <a:t> By providing precise state estimations, the Kalman filter helps reduce unnecessary control actions, thereby enhancing operational efficiency and reducing wear and energy consumption.</a:t>
            </a:r>
          </a:p>
          <a:p>
            <a:pPr algn="l">
              <a:buFont typeface="Arial" panose="020B0604020202020204" pitchFamily="34" charset="0"/>
              <a:buChar char="•"/>
            </a:pPr>
            <a:endParaRPr lang="en-US" sz="3400" dirty="0">
              <a:solidFill>
                <a:schemeClr val="tx1"/>
              </a:solidFill>
              <a:latin typeface="Arial" panose="020B0604020202020204" pitchFamily="34" charset="0"/>
              <a:cs typeface="Arial" panose="020B0604020202020204" pitchFamily="34" charset="0"/>
            </a:endParaRPr>
          </a:p>
          <a:p>
            <a:pPr algn="l"/>
            <a:r>
              <a:rPr lang="en-US" sz="3400" b="1" dirty="0">
                <a:solidFill>
                  <a:schemeClr val="tx1"/>
                </a:solidFill>
                <a:latin typeface="Arial" panose="020B0604020202020204" pitchFamily="34" charset="0"/>
                <a:cs typeface="Arial" panose="020B0604020202020204" pitchFamily="34" charset="0"/>
              </a:rPr>
              <a:t>Recommendations for Practical Application:</a:t>
            </a:r>
            <a:endParaRPr lang="en-US" sz="34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3400" b="1" dirty="0">
                <a:solidFill>
                  <a:schemeClr val="tx1"/>
                </a:solidFill>
                <a:latin typeface="Arial" panose="020B0604020202020204" pitchFamily="34" charset="0"/>
                <a:cs typeface="Arial" panose="020B0604020202020204" pitchFamily="34" charset="0"/>
              </a:rPr>
              <a:t>Wider Implementation:</a:t>
            </a:r>
            <a:r>
              <a:rPr lang="en-US" sz="3400" dirty="0">
                <a:solidFill>
                  <a:schemeClr val="tx1"/>
                </a:solidFill>
                <a:latin typeface="Arial" panose="020B0604020202020204" pitchFamily="34" charset="0"/>
                <a:cs typeface="Arial" panose="020B0604020202020204" pitchFamily="34" charset="0"/>
              </a:rPr>
              <a:t> Based on the findings, the implementation of the Kalman filter is highly recommended for similar industrial control systems, especially those experiencing high levels of uncertainties and noise.</a:t>
            </a:r>
          </a:p>
          <a:p>
            <a:pPr algn="l">
              <a:buFont typeface="Arial" panose="020B0604020202020204" pitchFamily="34" charset="0"/>
              <a:buChar char="•"/>
            </a:pPr>
            <a:r>
              <a:rPr lang="en-US" sz="3400" b="1" dirty="0">
                <a:solidFill>
                  <a:schemeClr val="tx1"/>
                </a:solidFill>
                <a:latin typeface="Arial" panose="020B0604020202020204" pitchFamily="34" charset="0"/>
                <a:cs typeface="Arial" panose="020B0604020202020204" pitchFamily="34" charset="0"/>
              </a:rPr>
              <a:t>Continued Development:</a:t>
            </a:r>
            <a:r>
              <a:rPr lang="en-US" sz="3400" dirty="0">
                <a:solidFill>
                  <a:schemeClr val="tx1"/>
                </a:solidFill>
                <a:latin typeface="Arial" panose="020B0604020202020204" pitchFamily="34" charset="0"/>
                <a:cs typeface="Arial" panose="020B0604020202020204" pitchFamily="34" charset="0"/>
              </a:rPr>
              <a:t> It is advisable to continue refining the Kalman filter’s parameters and exploring its integration with other advanced control techniques to maximize its effectiveness across various dynamic environments.</a:t>
            </a:r>
          </a:p>
          <a:p>
            <a:pPr algn="l">
              <a:buFont typeface="Arial" panose="020B0604020202020204" pitchFamily="34" charset="0"/>
              <a:buChar char="•"/>
            </a:pPr>
            <a:endParaRPr lang="en-US" sz="3400" dirty="0">
              <a:solidFill>
                <a:schemeClr val="tx1"/>
              </a:solidFill>
              <a:latin typeface="Arial" panose="020B0604020202020204" pitchFamily="34" charset="0"/>
              <a:cs typeface="Arial" panose="020B0604020202020204" pitchFamily="34" charset="0"/>
            </a:endParaRPr>
          </a:p>
          <a:p>
            <a:pPr algn="l"/>
            <a:r>
              <a:rPr lang="en-US" sz="3400" b="1" dirty="0">
                <a:solidFill>
                  <a:schemeClr val="tx1"/>
                </a:solidFill>
                <a:latin typeface="Arial" panose="020B0604020202020204" pitchFamily="34" charset="0"/>
                <a:cs typeface="Arial" panose="020B0604020202020204" pitchFamily="34" charset="0"/>
              </a:rPr>
              <a:t>Future Research Directions:</a:t>
            </a:r>
            <a:endParaRPr lang="en-US" sz="3400" dirty="0">
              <a:solidFill>
                <a:schemeClr val="tx1"/>
              </a:solidFill>
              <a:latin typeface="Arial" panose="020B0604020202020204" pitchFamily="34" charset="0"/>
              <a:cs typeface="Arial" panose="020B0604020202020204" pitchFamily="34" charset="0"/>
            </a:endParaRPr>
          </a:p>
          <a:p>
            <a:pPr algn="l">
              <a:buFont typeface="Arial" panose="020B0604020202020204" pitchFamily="34" charset="0"/>
              <a:buChar char="•"/>
            </a:pPr>
            <a:r>
              <a:rPr lang="en-US" sz="3400" b="1" dirty="0">
                <a:solidFill>
                  <a:schemeClr val="tx1"/>
                </a:solidFill>
                <a:latin typeface="Arial" panose="020B0604020202020204" pitchFamily="34" charset="0"/>
                <a:cs typeface="Arial" panose="020B0604020202020204" pitchFamily="34" charset="0"/>
              </a:rPr>
              <a:t>Nonlinear System Exploration:</a:t>
            </a:r>
            <a:r>
              <a:rPr lang="en-US" sz="3400" dirty="0">
                <a:solidFill>
                  <a:schemeClr val="tx1"/>
                </a:solidFill>
                <a:latin typeface="Arial" panose="020B0604020202020204" pitchFamily="34" charset="0"/>
                <a:cs typeface="Arial" panose="020B0604020202020204" pitchFamily="34" charset="0"/>
              </a:rPr>
              <a:t> Further research should investigate the Kalman filter's performance within more complex nonlinear systems to fully understand its limitations and capabilities.</a:t>
            </a:r>
          </a:p>
          <a:p>
            <a:pPr algn="l">
              <a:buFont typeface="Arial" panose="020B0604020202020204" pitchFamily="34" charset="0"/>
              <a:buChar char="•"/>
            </a:pPr>
            <a:r>
              <a:rPr lang="en-US" sz="3400" b="1" dirty="0">
                <a:solidFill>
                  <a:schemeClr val="tx1"/>
                </a:solidFill>
                <a:latin typeface="Arial" panose="020B0604020202020204" pitchFamily="34" charset="0"/>
                <a:cs typeface="Arial" panose="020B0604020202020204" pitchFamily="34" charset="0"/>
              </a:rPr>
              <a:t>Cost-Effectiveness Analysis:</a:t>
            </a:r>
            <a:r>
              <a:rPr lang="en-US" sz="3400" dirty="0">
                <a:solidFill>
                  <a:schemeClr val="tx1"/>
                </a:solidFill>
                <a:latin typeface="Arial" panose="020B0604020202020204" pitchFamily="34" charset="0"/>
                <a:cs typeface="Arial" panose="020B0604020202020204" pitchFamily="34" charset="0"/>
              </a:rPr>
              <a:t> Conducting a detailed cost-benefit analysis to evaluate the economic impacts of implementing Kalman filters in large-scale industrial systems would be beneficial.</a:t>
            </a:r>
          </a:p>
          <a:p>
            <a:pPr algn="l"/>
            <a:endParaRPr lang="en-US" dirty="0"/>
          </a:p>
        </p:txBody>
      </p:sp>
    </p:spTree>
    <p:extLst>
      <p:ext uri="{BB962C8B-B14F-4D97-AF65-F5344CB8AC3E}">
        <p14:creationId xmlns:p14="http://schemas.microsoft.com/office/powerpoint/2010/main" val="4092855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pPr marL="342900" marR="0" lvl="0" indent="-342900">
              <a:lnSpc>
                <a:spcPct val="115000"/>
              </a:lnSpc>
              <a:spcAft>
                <a:spcPts val="800"/>
              </a:spcAft>
              <a:buFont typeface="+mj-lt"/>
              <a:buAutoNum type="arabicPeriod"/>
              <a:tabLst>
                <a:tab pos="457200" algn="l"/>
              </a:tabLst>
            </a:pPr>
            <a:r>
              <a:rPr lang="en-US" sz="1800" kern="100" dirty="0">
                <a:effectLst/>
                <a:latin typeface="Arial" panose="020B0604020202020204" pitchFamily="34" charset="0"/>
                <a:ea typeface="Aptos" panose="020B0004020202020204" pitchFamily="34" charset="0"/>
                <a:cs typeface="Arial" panose="020B0604020202020204" pitchFamily="34" charset="0"/>
              </a:rPr>
              <a:t>IEEE Standards Association. </a:t>
            </a:r>
            <a:r>
              <a:rPr lang="en-US" sz="1800" i="1" kern="100" dirty="0">
                <a:effectLst/>
                <a:latin typeface="Arial" panose="020B0604020202020204" pitchFamily="34" charset="0"/>
                <a:ea typeface="Aptos" panose="020B0004020202020204" pitchFamily="34" charset="0"/>
                <a:cs typeface="Arial" panose="020B0604020202020204" pitchFamily="34" charset="0"/>
              </a:rPr>
              <a:t>IEEE Guide for Control of Industrial Systems.</a:t>
            </a:r>
            <a:endParaRPr lang="en-US" sz="1800" kern="100" dirty="0">
              <a:effectLst/>
              <a:latin typeface="Arial" panose="020B06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Font typeface="+mj-lt"/>
              <a:buAutoNum type="arabicPeriod"/>
              <a:tabLst>
                <a:tab pos="457200" algn="l"/>
              </a:tabLst>
            </a:pPr>
            <a:r>
              <a:rPr lang="en-US" sz="1800" i="1" kern="100" dirty="0">
                <a:effectLst/>
                <a:latin typeface="Arial" panose="020B0604020202020204" pitchFamily="34" charset="0"/>
                <a:ea typeface="Aptos" panose="020B0004020202020204" pitchFamily="34" charset="0"/>
                <a:cs typeface="Arial" panose="020B0604020202020204" pitchFamily="34" charset="0"/>
              </a:rPr>
              <a:t>Modern Control by Arie </a:t>
            </a:r>
            <a:r>
              <a:rPr lang="en-US" sz="1800" i="1" kern="100" dirty="0" err="1">
                <a:effectLst/>
                <a:latin typeface="Arial" panose="020B0604020202020204" pitchFamily="34" charset="0"/>
                <a:ea typeface="Aptos" panose="020B0004020202020204" pitchFamily="34" charset="0"/>
                <a:cs typeface="Arial" panose="020B0604020202020204" pitchFamily="34" charset="0"/>
              </a:rPr>
              <a:t>Nakhmani</a:t>
            </a:r>
            <a:r>
              <a:rPr lang="en-US" sz="1800" i="1" kern="100" dirty="0">
                <a:effectLst/>
                <a:latin typeface="Arial" panose="020B0604020202020204" pitchFamily="34" charset="0"/>
                <a:ea typeface="Aptos" panose="020B0004020202020204" pitchFamily="34" charset="0"/>
                <a:cs typeface="Arial" panose="020B0604020202020204" pitchFamily="34" charset="0"/>
              </a:rPr>
              <a:t>.</a:t>
            </a:r>
            <a:endParaRPr lang="en-US" sz="1800" kern="100" dirty="0">
              <a:effectLst/>
              <a:latin typeface="Arial" panose="020B0604020202020204" pitchFamily="34" charset="0"/>
              <a:ea typeface="Aptos" panose="020B0004020202020204" pitchFamily="34" charset="0"/>
              <a:cs typeface="Arial" panose="020B0604020202020204" pitchFamily="34" charset="0"/>
            </a:endParaRPr>
          </a:p>
          <a:p>
            <a:pPr marL="342900" marR="0" lvl="0" indent="-342900">
              <a:lnSpc>
                <a:spcPct val="115000"/>
              </a:lnSpc>
              <a:spcAft>
                <a:spcPts val="800"/>
              </a:spcAft>
              <a:buFont typeface="+mj-lt"/>
              <a:buAutoNum type="arabicPeriod"/>
              <a:tabLst>
                <a:tab pos="457200" algn="l"/>
              </a:tabLst>
            </a:pPr>
            <a:r>
              <a:rPr lang="en-US" sz="1800" kern="100" dirty="0">
                <a:effectLst/>
                <a:latin typeface="Arial" panose="020B0604020202020204" pitchFamily="34" charset="0"/>
                <a:ea typeface="Aptos" panose="020B0004020202020204" pitchFamily="34" charset="0"/>
                <a:cs typeface="Arial" panose="020B0604020202020204" pitchFamily="34" charset="0"/>
              </a:rPr>
              <a:t>MATLAB Documentation.</a:t>
            </a:r>
            <a:br>
              <a:rPr lang="en-IN" dirty="0"/>
            </a:b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Q&amp;A</a:t>
            </a:r>
          </a:p>
        </p:txBody>
      </p:sp>
      <p:sp>
        <p:nvSpPr>
          <p:cNvPr id="3" name="Content Placeholder 2"/>
          <p:cNvSpPr>
            <a:spLocks noGrp="1"/>
          </p:cNvSpPr>
          <p:nvPr>
            <p:ph idx="1"/>
          </p:nvPr>
        </p:nvSpPr>
        <p:spPr/>
        <p:txBody>
          <a:bodyPr/>
          <a:lstStyle/>
          <a:p>
            <a:r>
              <a:t>Open floor for any questions from the audience.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3D25154-9EF7-4C33-9AAC-7B3BE089FE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1714"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77CCBE37-7650-61C2-37BE-8233E500CD72}"/>
              </a:ext>
            </a:extLst>
          </p:cNvPr>
          <p:cNvSpPr>
            <a:spLocks noGrp="1"/>
          </p:cNvSpPr>
          <p:nvPr>
            <p:ph type="ctrTitle"/>
          </p:nvPr>
        </p:nvSpPr>
        <p:spPr>
          <a:xfrm>
            <a:off x="788670" y="643468"/>
            <a:ext cx="7475220" cy="3592432"/>
          </a:xfrm>
        </p:spPr>
        <p:txBody>
          <a:bodyPr>
            <a:normAutofit/>
          </a:bodyPr>
          <a:lstStyle/>
          <a:p>
            <a:r>
              <a:rPr lang="en-IN" dirty="0"/>
              <a:t>Thankyou!</a:t>
            </a:r>
            <a:endParaRPr lang="en-US" dirty="0"/>
          </a:p>
        </p:txBody>
      </p:sp>
      <p:sp>
        <p:nvSpPr>
          <p:cNvPr id="9" name="Rectangle 8">
            <a:extLst>
              <a:ext uri="{FF2B5EF4-FFF2-40B4-BE49-F238E27FC236}">
                <a16:creationId xmlns:a16="http://schemas.microsoft.com/office/drawing/2014/main" id="{1604E8C0-C927-4C06-A96A-BF3323BA76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2000"/>
            <a:ext cx="9144000" cy="2295831"/>
          </a:xfrm>
          <a:prstGeom prst="rect">
            <a:avLst/>
          </a:prstGeom>
          <a:blipFill dpi="0" rotWithShape="1">
            <a:blip r:embed="rId2">
              <a:alphaModFix amt="85000"/>
              <a:lum bright="70000" contrast="-70000"/>
              <a:extLs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9DCECFD5-4C30-4892-9FF0-540E17955A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84192" y="5111496"/>
            <a:ext cx="810678" cy="1080902"/>
            <a:chOff x="10245590" y="5111496"/>
            <a:chExt cx="1080904" cy="1080902"/>
          </a:xfrm>
        </p:grpSpPr>
        <p:sp>
          <p:nvSpPr>
            <p:cNvPr id="12" name="Oval 11">
              <a:extLst>
                <a:ext uri="{FF2B5EF4-FFF2-40B4-BE49-F238E27FC236}">
                  <a16:creationId xmlns:a16="http://schemas.microsoft.com/office/drawing/2014/main" id="{95C67F70-EAFE-425C-8422-591620A96D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5590" y="5111496"/>
              <a:ext cx="1080904" cy="1080902"/>
            </a:xfrm>
            <a:prstGeom prst="ellipse">
              <a:avLst/>
            </a:prstGeom>
            <a:blipFill dpi="0" rotWithShape="1">
              <a:blip r:embed="rId3">
                <a:duotone>
                  <a:schemeClr val="accent1">
                    <a:shade val="45000"/>
                    <a:satMod val="135000"/>
                  </a:schemeClr>
                  <a:prstClr val="white"/>
                </a:duotone>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D47FA16B-C217-4D91-84EA-5B0846BDDA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53681" y="5219586"/>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85931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TM03090434[[fn=Wood Type]]</Template>
  <TotalTime>119</TotalTime>
  <Words>2545</Words>
  <Application>Microsoft Office PowerPoint</Application>
  <PresentationFormat>On-screen Show (4:3)</PresentationFormat>
  <Paragraphs>179</Paragraphs>
  <Slides>45</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45</vt:i4>
      </vt:variant>
    </vt:vector>
  </HeadingPairs>
  <TitlesOfParts>
    <vt:vector size="55" baseType="lpstr">
      <vt:lpstr>Arial</vt:lpstr>
      <vt:lpstr>Calibri</vt:lpstr>
      <vt:lpstr>Cambria Math</vt:lpstr>
      <vt:lpstr>Consolas</vt:lpstr>
      <vt:lpstr>Rockwell</vt:lpstr>
      <vt:lpstr>Rockwell Condensed</vt:lpstr>
      <vt:lpstr>Rockwell Extra Bold</vt:lpstr>
      <vt:lpstr>Symbol</vt:lpstr>
      <vt:lpstr>Wingdings</vt:lpstr>
      <vt:lpstr>Wood Type</vt:lpstr>
      <vt:lpstr>Modeling and Control of a Bridge Crane System</vt:lpstr>
      <vt:lpstr>Introduction</vt:lpstr>
      <vt:lpstr>PowerPoint Presentation</vt:lpstr>
      <vt:lpstr>PowerPoint Presentation</vt:lpstr>
      <vt:lpstr>PowerPoint Presentation</vt:lpstr>
      <vt:lpstr>Problem Statement</vt:lpstr>
      <vt:lpstr>Methodology Overview</vt:lpstr>
      <vt:lpstr>Nonlinear State-Space Equations</vt:lpstr>
      <vt:lpstr>PowerPoint Presentation</vt:lpstr>
      <vt:lpstr>Linearization</vt:lpstr>
      <vt:lpstr>PowerPoint Presentation</vt:lpstr>
      <vt:lpstr>Transfer Function Analysis</vt:lpstr>
      <vt:lpstr>PowerPoint Presentation</vt:lpstr>
      <vt:lpstr>PowerPoint Presentation</vt:lpstr>
      <vt:lpstr>PowerPoint Presentation</vt:lpstr>
      <vt:lpstr>PowerPoint Presentation</vt:lpstr>
      <vt:lpstr>Controller Design</vt:lpstr>
      <vt:lpstr>Simulink Models</vt:lpstr>
      <vt:lpstr>PowerPoint Presentation</vt:lpstr>
      <vt:lpstr>PowerPoint Presentation</vt:lpstr>
      <vt:lpstr>PowerPoint Presentation</vt:lpstr>
      <vt:lpstr>PowerPoint Presentation</vt:lpstr>
      <vt:lpstr>PowerPoint Presentation</vt:lpstr>
      <vt:lpstr>Optimal Controller Design and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Objectives of System Analysis Under Uncertainty</vt:lpstr>
      <vt:lpstr>PowerPoint Presentation</vt:lpstr>
      <vt:lpstr>PowerPoint Presentation</vt:lpstr>
      <vt:lpstr>PowerPoint Presentation</vt:lpstr>
      <vt:lpstr>PowerPoint Presentation</vt:lpstr>
      <vt:lpstr>PowerPoint Presentation</vt:lpstr>
      <vt:lpstr>System Design with Restrictions</vt:lpstr>
      <vt:lpstr>PowerPoint Presentation</vt:lpstr>
      <vt:lpstr>Control System Design </vt:lpstr>
      <vt:lpstr>Conclusion</vt:lpstr>
      <vt:lpstr>PowerPoint Presentation</vt:lpstr>
      <vt:lpstr>References</vt:lpstr>
      <vt:lpstr>Q&amp;A</vt:lpstr>
      <vt:lpstr>Thankyou!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CHARITH.S.S ALE</cp:lastModifiedBy>
  <cp:revision>4</cp:revision>
  <dcterms:created xsi:type="dcterms:W3CDTF">2013-01-27T09:14:16Z</dcterms:created>
  <dcterms:modified xsi:type="dcterms:W3CDTF">2024-12-06T05:30:22Z</dcterms:modified>
  <cp:category/>
</cp:coreProperties>
</file>